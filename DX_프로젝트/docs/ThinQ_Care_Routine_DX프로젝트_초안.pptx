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91321094-60FF-4F55-BA7B-491C729393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42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637EED2-1A6E-4218-AE9C-0618066AB3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F2421"/>
              </a:gs>
              <a:gs pos="58000">
                <a:srgbClr val="2F6F5E"/>
              </a:gs>
              <a:gs pos="100000">
                <a:srgbClr val="A71930"/>
              </a:gs>
            </a:gsLst>
            <a:lin ang="1500000"/>
          </a:gra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0071D7-E5B1-43C8-8483-DB7407E63FDF}"/>
              </a:ext>
            </a:extLst>
          </p:cNvPr>
          <p:cNvSpPr>
            <a:spLocks noGrp="1"/>
          </p:cNvSpPr>
          <p:nvPr/>
        </p:nvSpPr>
        <p:spPr>
          <a:xfrm>
            <a:off x="552450" y="514350"/>
            <a:ext cx="76200" cy="5638800"/>
          </a:xfrm>
          <a:prstGeom prst="rect">
            <a:avLst/>
          </a:prstGeom>
          <a:solidFill>
            <a:srgbClr val="D4473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65CC5DA-BD39-4AD4-A7F4-931249155945}"/>
              </a:ext>
            </a:extLst>
          </p:cNvPr>
          <p:cNvSpPr>
            <a:spLocks noGrp="1"/>
          </p:cNvSpPr>
          <p:nvPr/>
        </p:nvSpPr>
        <p:spPr>
          <a:xfrm>
            <a:off x="838200" y="60960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F5D7C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5D7C5"/>
                </a:solidFill>
                <a:latin typeface="Malgun Gothic"/>
                <a:ea typeface="Malgun Gothic"/>
                <a:cs typeface="Malgun Gothic"/>
              </a:rPr>
              <a:t>DX PROJECT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05226C-07DF-466F-AE97-87ACB2032F43}"/>
              </a:ext>
            </a:extLst>
          </p:cNvPr>
          <p:cNvSpPr>
            <a:spLocks noGrp="1"/>
          </p:cNvSpPr>
          <p:nvPr/>
        </p:nvSpPr>
        <p:spPr>
          <a:xfrm>
            <a:off x="800100" y="1409700"/>
            <a:ext cx="78105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7784"/>
          </a:bodyPr>
          <a:lstStyle/>
          <a:p>
            <a:pPr algn="l">
              <a:lnSpc>
                <a:spcPct val="118000"/>
              </a:lnSpc>
              <a:buNone/>
              <a:def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ThinQ Care Routine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2352071-F645-4FC3-8FE1-972559942499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76200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950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F7F2E8"/>
                </a:solidFill>
                <a:latin typeface="Malgun Gothic"/>
                <a:ea typeface="Malgun Gothic"/>
                <a:cs typeface="Malgun Gothic"/>
              </a:rPr>
              <a:t>임산부의 생활 기록을 집 안 환경 자동화로 연결하는 홈케어 서비스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606DAE0-801E-4EE5-B301-111AE29010F1}"/>
              </a:ext>
            </a:extLst>
          </p:cNvPr>
          <p:cNvSpPr>
            <a:spLocks noGrp="1"/>
          </p:cNvSpPr>
          <p:nvPr/>
        </p:nvSpPr>
        <p:spPr>
          <a:xfrm>
            <a:off x="838200" y="3886200"/>
            <a:ext cx="2095500" cy="1009650"/>
          </a:xfrm>
          <a:prstGeom prst="rect">
            <a:avLst/>
          </a:prstGeom>
          <a:solidFill>
            <a:srgbClr val="FFF9E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330042-045B-4E86-B2E9-D8C02D48ABF7}"/>
              </a:ext>
            </a:extLst>
          </p:cNvPr>
          <p:cNvSpPr>
            <a:spLocks noGrp="1"/>
          </p:cNvSpPr>
          <p:nvPr/>
        </p:nvSpPr>
        <p:spPr>
          <a:xfrm>
            <a:off x="1009650" y="4038600"/>
            <a:ext cx="17526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9454"/>
          </a:bodyPr>
          <a:lstStyle/>
          <a:p>
            <a:pPr algn="l">
              <a:lnSpc>
                <a:spcPct val="118000"/>
              </a:lnSpc>
              <a:buNone/>
              <a:defRPr sz="2250" b="1">
                <a:solidFill>
                  <a:srgbClr val="D4473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D44731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6A639C5-CFAF-4BB7-809F-8329B9CBA407}"/>
              </a:ext>
            </a:extLst>
          </p:cNvPr>
          <p:cNvSpPr>
            <a:spLocks noGrp="1"/>
          </p:cNvSpPr>
          <p:nvPr/>
        </p:nvSpPr>
        <p:spPr>
          <a:xfrm>
            <a:off x="1009650" y="4419600"/>
            <a:ext cx="17526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생활 기록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00A1347-D575-4354-AEE2-0655ABA95FA9}"/>
              </a:ext>
            </a:extLst>
          </p:cNvPr>
          <p:cNvSpPr>
            <a:spLocks noGrp="1"/>
          </p:cNvSpPr>
          <p:nvPr/>
        </p:nvSpPr>
        <p:spPr>
          <a:xfrm>
            <a:off x="1009650" y="4667250"/>
            <a:ext cx="17526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82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식사·수분·세탁·일정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AC0555C-DC15-4C6F-9793-937F0186E593}"/>
              </a:ext>
            </a:extLst>
          </p:cNvPr>
          <p:cNvSpPr>
            <a:spLocks noGrp="1"/>
          </p:cNvSpPr>
          <p:nvPr/>
        </p:nvSpPr>
        <p:spPr>
          <a:xfrm>
            <a:off x="3181350" y="3886200"/>
            <a:ext cx="2381250" cy="1009650"/>
          </a:xfrm>
          <a:prstGeom prst="rect">
            <a:avLst/>
          </a:prstGeom>
          <a:solidFill>
            <a:srgbClr val="FFF9E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9AC05C2-E488-4E89-8DFB-9177D740A615}"/>
              </a:ext>
            </a:extLst>
          </p:cNvPr>
          <p:cNvSpPr>
            <a:spLocks noGrp="1"/>
          </p:cNvSpPr>
          <p:nvPr/>
        </p:nvSpPr>
        <p:spPr>
          <a:xfrm>
            <a:off x="3352800" y="4038600"/>
            <a:ext cx="20383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9454"/>
          </a:bodyPr>
          <a:lstStyle/>
          <a:p>
            <a:pPr algn="l">
              <a:lnSpc>
                <a:spcPct val="118000"/>
              </a:lnSpc>
              <a:buNone/>
              <a:defRPr sz="225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CB66304-0689-4467-B373-CFF9E8C2755D}"/>
              </a:ext>
            </a:extLst>
          </p:cNvPr>
          <p:cNvSpPr>
            <a:spLocks noGrp="1"/>
          </p:cNvSpPr>
          <p:nvPr/>
        </p:nvSpPr>
        <p:spPr>
          <a:xfrm>
            <a:off x="3352800" y="4419600"/>
            <a:ext cx="20383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상황 트리거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470A836-15E5-4ED3-88D4-8E83E91F958D}"/>
              </a:ext>
            </a:extLst>
          </p:cNvPr>
          <p:cNvSpPr>
            <a:spLocks noGrp="1"/>
          </p:cNvSpPr>
          <p:nvPr/>
        </p:nvSpPr>
        <p:spPr>
          <a:xfrm>
            <a:off x="3352800" y="4667250"/>
            <a:ext cx="20383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82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날씨·냄새·위생·시간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5E46696-4FF3-403C-9CAC-3DB68C9BF7FC}"/>
              </a:ext>
            </a:extLst>
          </p:cNvPr>
          <p:cNvSpPr>
            <a:spLocks noGrp="1"/>
          </p:cNvSpPr>
          <p:nvPr/>
        </p:nvSpPr>
        <p:spPr>
          <a:xfrm>
            <a:off x="5810250" y="3886200"/>
            <a:ext cx="2571750" cy="1009650"/>
          </a:xfrm>
          <a:prstGeom prst="rect">
            <a:avLst/>
          </a:prstGeom>
          <a:solidFill>
            <a:srgbClr val="FFF9E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E2C3496-58DF-47CE-A481-6A5259653A89}"/>
              </a:ext>
            </a:extLst>
          </p:cNvPr>
          <p:cNvSpPr>
            <a:spLocks noGrp="1"/>
          </p:cNvSpPr>
          <p:nvPr/>
        </p:nvSpPr>
        <p:spPr>
          <a:xfrm>
            <a:off x="5981700" y="4038600"/>
            <a:ext cx="22288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9454"/>
          </a:bodyPr>
          <a:lstStyle/>
          <a:p>
            <a:pPr algn="l">
              <a:lnSpc>
                <a:spcPct val="118000"/>
              </a:lnSpc>
              <a:buNone/>
              <a:defRPr sz="2250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rPr>
              <a:t>자동화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068F8AE-04FF-443B-876B-399F03CFB386}"/>
              </a:ext>
            </a:extLst>
          </p:cNvPr>
          <p:cNvSpPr>
            <a:spLocks noGrp="1"/>
          </p:cNvSpPr>
          <p:nvPr/>
        </p:nvSpPr>
        <p:spPr>
          <a:xfrm>
            <a:off x="5981700" y="4419600"/>
            <a:ext cx="22288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ThinQ 실행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20C557A-2D63-451A-B5E2-E35DEE27C917}"/>
              </a:ext>
            </a:extLst>
          </p:cNvPr>
          <p:cNvSpPr>
            <a:spLocks noGrp="1"/>
          </p:cNvSpPr>
          <p:nvPr/>
        </p:nvSpPr>
        <p:spPr>
          <a:xfrm>
            <a:off x="5981700" y="4667250"/>
            <a:ext cx="222885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82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냉장고·정수기·세탁기 등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39AFB14-E707-42C0-8B2C-AAFA7F8F088F}"/>
              </a:ext>
            </a:extLst>
          </p:cNvPr>
          <p:cNvSpPr>
            <a:spLocks noGrp="1"/>
          </p:cNvSpPr>
          <p:nvPr/>
        </p:nvSpPr>
        <p:spPr>
          <a:xfrm>
            <a:off x="838200" y="6191250"/>
            <a:ext cx="6858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050" b="0">
                <a:solidFill>
                  <a:srgbClr val="E8DEC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E8DECF"/>
                </a:solidFill>
                <a:latin typeface="Malgun Gothic"/>
                <a:ea typeface="Malgun Gothic"/>
                <a:cs typeface="Malgun Gothic"/>
              </a:rPr>
              <a:t>Project Definition  |  Target Customer: 임신 16~32주차 생활 루틴 관리 임산부</a:t>
            </a:r>
          </a:p>
        </p:txBody>
      </p:sp>
    </p:spTree>
    <p:extLst>
      <p:ext uri="{BB962C8B-B14F-4D97-AF65-F5344CB8AC3E}">
        <p14:creationId xmlns:p14="http://schemas.microsoft.com/office/powerpoint/2010/main" val="685766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CD8FD705-BEF0-4A2A-BF68-071A5AE7C8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19F3FF7-643B-4261-A33F-C6DD903F9C4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6200" cy="209550"/>
          </a:xfrm>
          <a:prstGeom prst="rect">
            <a:avLst/>
          </a:prstGeom>
          <a:solidFill>
            <a:srgbClr val="A7193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30B1533-A0EB-4C3C-B7C0-FDA0460D2B94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WHY NOW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D80EEBB-C2D5-4458-ACB5-B1D45E166EDA}"/>
              </a:ext>
            </a:extLst>
          </p:cNvPr>
          <p:cNvSpPr>
            <a:spLocks noGrp="1"/>
          </p:cNvSpPr>
          <p:nvPr/>
        </p:nvSpPr>
        <p:spPr>
          <a:xfrm>
            <a:off x="609599" y="857250"/>
            <a:ext cx="9180945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811"/>
          </a:bodyPr>
          <a:lstStyle/>
          <a:p>
            <a:pPr algn="l">
              <a:lnSpc>
                <a:spcPct val="110000"/>
              </a:lnSpc>
              <a:buNone/>
              <a:def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기존</a:t>
            </a:r>
            <a:r>
              <a:rPr sz="2550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550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임신</a:t>
            </a:r>
            <a:r>
              <a:rPr sz="2550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550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앱은</a:t>
            </a:r>
            <a:r>
              <a:rPr sz="2550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550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정보를</a:t>
            </a:r>
            <a:r>
              <a:rPr sz="2550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550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알려주지만</a:t>
            </a:r>
            <a:r>
              <a:rPr sz="2550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, 집 </a:t>
            </a:r>
            <a:r>
              <a:rPr sz="2550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안의</a:t>
            </a:r>
            <a:r>
              <a:rPr sz="2550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550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실행</a:t>
            </a:r>
            <a:r>
              <a:rPr sz="2550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550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부담은</a:t>
            </a:r>
            <a:r>
              <a:rPr sz="2550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550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남겨둔다</a:t>
            </a:r>
            <a:r>
              <a:rPr sz="2550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C5E9A8-7521-43A5-BC07-CBF3731B786C}"/>
              </a:ext>
            </a:extLst>
          </p:cNvPr>
          <p:cNvSpPr>
            <a:spLocks noGrp="1"/>
          </p:cNvSpPr>
          <p:nvPr/>
        </p:nvSpPr>
        <p:spPr>
          <a:xfrm>
            <a:off x="609600" y="6329363"/>
            <a:ext cx="10439400" cy="9525"/>
          </a:xfrm>
          <a:prstGeom prst="rect">
            <a:avLst/>
          </a:prstGeom>
          <a:solidFill>
            <a:srgbClr val="D9D0C0"/>
          </a:solidFill>
          <a:ln w="0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D3295D0-5F29-4E03-8CE0-6290FB4C5C4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ThinQ Care Routine | DX Project Draft  |  02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2078964-15BA-459F-B7F3-25D1A4FA1C24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5619750" cy="11430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6806"/>
          </a:bodyPr>
          <a:lstStyle/>
          <a:p>
            <a:pPr algn="l">
              <a:lnSpc>
                <a:spcPct val="128000"/>
              </a:lnSpc>
              <a:buNone/>
              <a:defRPr sz="1575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임산부는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임신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주차가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지날수록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식사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수분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세탁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위생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실내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공기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냄새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병원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일정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출산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준비물을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동시에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관리해야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한다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문제는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이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관리가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앱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안의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정보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확인에서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끝나고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생활공간의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행동으로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이어지지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않는다는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점이다</a:t>
            </a:r>
            <a:r>
              <a:rPr sz="15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436841E-F92A-47D8-B450-B96CB0D88968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419100" cy="419100"/>
          </a:xfrm>
          <a:prstGeom prst="ellipse">
            <a:avLst/>
          </a:prstGeom>
          <a:solidFill>
            <a:srgbClr val="A7193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A3E6947-D57B-4DCD-A4E2-40A99463C4A3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41910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4F01F12-6B61-498E-A698-70E25D3DAF76}"/>
              </a:ext>
            </a:extLst>
          </p:cNvPr>
          <p:cNvSpPr>
            <a:spLocks noGrp="1"/>
          </p:cNvSpPr>
          <p:nvPr/>
        </p:nvSpPr>
        <p:spPr>
          <a:xfrm>
            <a:off x="1295400" y="333375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67551"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검색 피로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DB97FD4-BE45-4DA5-8802-38866DDA965F}"/>
              </a:ext>
            </a:extLst>
          </p:cNvPr>
          <p:cNvSpPr>
            <a:spLocks noGrp="1"/>
          </p:cNvSpPr>
          <p:nvPr/>
        </p:nvSpPr>
        <p:spPr>
          <a:xfrm>
            <a:off x="1295400" y="3638550"/>
            <a:ext cx="447675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084"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주차별 생활관리 정보를 매번 검색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BC7F798-C829-46C5-A7BF-826E55EC64FA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419100" cy="419100"/>
          </a:xfrm>
          <a:prstGeom prst="ellipse">
            <a:avLst/>
          </a:prstGeom>
          <a:solidFill>
            <a:srgbClr val="2F6F5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C1E6CFD-8549-43F9-8EEE-FCCB92089EA6}"/>
              </a:ext>
            </a:extLst>
          </p:cNvPr>
          <p:cNvSpPr>
            <a:spLocks noGrp="1"/>
          </p:cNvSpPr>
          <p:nvPr/>
        </p:nvSpPr>
        <p:spPr>
          <a:xfrm>
            <a:off x="685800" y="4152900"/>
            <a:ext cx="41910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58480F-D057-4B10-9DBC-BBEB06C04174}"/>
              </a:ext>
            </a:extLst>
          </p:cNvPr>
          <p:cNvSpPr>
            <a:spLocks noGrp="1"/>
          </p:cNvSpPr>
          <p:nvPr/>
        </p:nvSpPr>
        <p:spPr>
          <a:xfrm>
            <a:off x="1295400" y="41148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67551"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직접 조작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7BCD888-B79D-4D04-B7B5-F04A4DCD2A20}"/>
              </a:ext>
            </a:extLst>
          </p:cNvPr>
          <p:cNvSpPr>
            <a:spLocks noGrp="1"/>
          </p:cNvSpPr>
          <p:nvPr/>
        </p:nvSpPr>
        <p:spPr>
          <a:xfrm>
            <a:off x="1295400" y="4419600"/>
            <a:ext cx="447675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084"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공기청정·세탁·정수 루틴을 수동 실행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D7C8F42-D91E-49D6-B247-2B63424716CC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419100" cy="419100"/>
          </a:xfrm>
          <a:prstGeom prst="ellipse">
            <a:avLst/>
          </a:prstGeom>
          <a:solidFill>
            <a:srgbClr val="C8952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973483E-73C8-4B42-9F11-84F0149B76AC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41910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7D81D05-6FD8-492F-B5A7-1734D742F8E9}"/>
              </a:ext>
            </a:extLst>
          </p:cNvPr>
          <p:cNvSpPr>
            <a:spLocks noGrp="1"/>
          </p:cNvSpPr>
          <p:nvPr/>
        </p:nvSpPr>
        <p:spPr>
          <a:xfrm>
            <a:off x="1295400" y="489585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67551"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가족 분담 부재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51D6ACF-A2A5-4EB8-992F-B108E47D9BCC}"/>
              </a:ext>
            </a:extLst>
          </p:cNvPr>
          <p:cNvSpPr>
            <a:spLocks noGrp="1"/>
          </p:cNvSpPr>
          <p:nvPr/>
        </p:nvSpPr>
        <p:spPr>
          <a:xfrm>
            <a:off x="1295400" y="5200650"/>
            <a:ext cx="447675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084"/>
          </a:bodyPr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배우자와 해야 할 일을 공유하기 어려움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9501A51-B6D3-44EA-932C-3CD9BB9C07E7}"/>
              </a:ext>
            </a:extLst>
          </p:cNvPr>
          <p:cNvSpPr>
            <a:spLocks noGrp="1"/>
          </p:cNvSpPr>
          <p:nvPr/>
        </p:nvSpPr>
        <p:spPr>
          <a:xfrm>
            <a:off x="7220528" y="1733550"/>
            <a:ext cx="3743036" cy="3429000"/>
          </a:xfrm>
          <a:prstGeom prst="rect">
            <a:avLst/>
          </a:prstGeom>
          <a:solidFill>
            <a:srgbClr val="FFF9E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3023C45-3FC9-449A-9C9F-D3C4DEB840CC}"/>
              </a:ext>
            </a:extLst>
          </p:cNvPr>
          <p:cNvSpPr>
            <a:spLocks noGrp="1"/>
          </p:cNvSpPr>
          <p:nvPr/>
        </p:nvSpPr>
        <p:spPr>
          <a:xfrm>
            <a:off x="7581900" y="2057400"/>
            <a:ext cx="152400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8468"/>
          </a:bodyPr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기회 영역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A0E5A91-82B7-4FD2-B3F1-0B77708E367E}"/>
              </a:ext>
            </a:extLst>
          </p:cNvPr>
          <p:cNvSpPr>
            <a:spLocks noGrp="1"/>
          </p:cNvSpPr>
          <p:nvPr/>
        </p:nvSpPr>
        <p:spPr>
          <a:xfrm>
            <a:off x="7581900" y="2514600"/>
            <a:ext cx="3400136" cy="12192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343" lnSpcReduction="10000"/>
          </a:bodyPr>
          <a:lstStyle/>
          <a:p>
            <a:pPr algn="l">
              <a:lnSpc>
                <a:spcPct val="118000"/>
              </a:lnSpc>
              <a:buNone/>
              <a:defRPr sz="23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임산부의</a:t>
            </a:r>
            <a:r>
              <a:rPr sz="2325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하루</a:t>
            </a:r>
            <a:r>
              <a:rPr sz="2325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기록을</a:t>
            </a:r>
            <a:endParaRPr sz="2325" b="1" dirty="0">
              <a:solidFill>
                <a:srgbClr val="1F2421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18000"/>
              </a:lnSpc>
              <a:buNone/>
              <a:defRPr sz="23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ThinQ</a:t>
            </a:r>
            <a:r>
              <a:rPr sz="2100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연결</a:t>
            </a:r>
            <a:r>
              <a:rPr sz="2100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가전의</a:t>
            </a:r>
            <a:r>
              <a:rPr sz="2100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루틴</a:t>
            </a:r>
            <a:r>
              <a:rPr sz="2100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추천과</a:t>
            </a:r>
            <a:endParaRPr sz="2100" b="1" dirty="0">
              <a:solidFill>
                <a:srgbClr val="1F2421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18000"/>
              </a:lnSpc>
              <a:buNone/>
              <a:defRPr sz="23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가족</a:t>
            </a:r>
            <a:r>
              <a:rPr sz="2325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체크리스트로</a:t>
            </a:r>
            <a:r>
              <a:rPr sz="2325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325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전환</a:t>
            </a:r>
            <a:endParaRPr sz="2325" b="1" dirty="0">
              <a:solidFill>
                <a:srgbClr val="1F242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4BB622B-90F3-462E-9AC0-E4C6749928AF}"/>
              </a:ext>
            </a:extLst>
          </p:cNvPr>
          <p:cNvSpPr>
            <a:spLocks noGrp="1"/>
          </p:cNvSpPr>
          <p:nvPr/>
        </p:nvSpPr>
        <p:spPr>
          <a:xfrm>
            <a:off x="7581900" y="4095750"/>
            <a:ext cx="26670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1897"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의료 판단이 아닌 생활환경·위생·식재료·수분·일정 관리 중심으로 설계한다.</a:t>
            </a:r>
          </a:p>
        </p:txBody>
      </p:sp>
    </p:spTree>
    <p:extLst>
      <p:ext uri="{BB962C8B-B14F-4D97-AF65-F5344CB8AC3E}">
        <p14:creationId xmlns:p14="http://schemas.microsoft.com/office/powerpoint/2010/main" val="1189615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B90BE8A2-4A37-4D3C-937B-531DB0497B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113FCC5-FF1E-4261-A9F5-E30B89C72F1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6200" cy="209550"/>
          </a:xfrm>
          <a:prstGeom prst="rect">
            <a:avLst/>
          </a:prstGeom>
          <a:solidFill>
            <a:srgbClr val="A7193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F635E76-6736-47C8-809B-101934EC7E25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TARGET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6093E7-1A7B-4599-9B37-6E609F670348}"/>
              </a:ext>
            </a:extLst>
          </p:cNvPr>
          <p:cNvSpPr>
            <a:spLocks noGrp="1"/>
          </p:cNvSpPr>
          <p:nvPr/>
        </p:nvSpPr>
        <p:spPr>
          <a:xfrm>
            <a:off x="609600" y="857250"/>
            <a:ext cx="8261926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811"/>
          </a:bodyPr>
          <a:lstStyle/>
          <a:p>
            <a:pPr algn="l">
              <a:lnSpc>
                <a:spcPct val="110000"/>
              </a:lnSpc>
              <a:buNone/>
              <a:def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핵심</a:t>
            </a:r>
            <a:r>
              <a:rPr sz="2550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550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고객은</a:t>
            </a:r>
            <a:r>
              <a:rPr sz="2550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‘</a:t>
            </a:r>
            <a:r>
              <a:rPr sz="2550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정보는</a:t>
            </a:r>
            <a:r>
              <a:rPr sz="2550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550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많지만</a:t>
            </a:r>
            <a:r>
              <a:rPr sz="2550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550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실행</a:t>
            </a:r>
            <a:r>
              <a:rPr sz="2550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550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루틴이</a:t>
            </a:r>
            <a:r>
              <a:rPr sz="2550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550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부족한</a:t>
            </a:r>
            <a:r>
              <a:rPr sz="2550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’ </a:t>
            </a:r>
            <a:r>
              <a:rPr sz="2550" b="1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임산부다</a:t>
            </a:r>
            <a:r>
              <a:rPr sz="2550" b="1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477B1E7-13CF-48EA-938C-72E461B5ACF9}"/>
              </a:ext>
            </a:extLst>
          </p:cNvPr>
          <p:cNvSpPr>
            <a:spLocks noGrp="1"/>
          </p:cNvSpPr>
          <p:nvPr/>
        </p:nvSpPr>
        <p:spPr>
          <a:xfrm>
            <a:off x="609600" y="6329363"/>
            <a:ext cx="10439400" cy="9525"/>
          </a:xfrm>
          <a:prstGeom prst="rect">
            <a:avLst/>
          </a:prstGeom>
          <a:solidFill>
            <a:srgbClr val="D9D0C0"/>
          </a:solidFill>
          <a:ln w="0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88027FE-8A0B-4346-B642-C3CB5F96DED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ThinQ Care Routine | DX Project Draft  |  03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E3FCE2-BF03-4FA2-90D3-23548219219F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3333750" cy="3714750"/>
          </a:xfrm>
          <a:prstGeom prst="rect">
            <a:avLst/>
          </a:prstGeom>
          <a:solidFill>
            <a:srgbClr val="FFF9E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8CBB611-CF7B-4585-97CB-C4CB20965578}"/>
              </a:ext>
            </a:extLst>
          </p:cNvPr>
          <p:cNvSpPr>
            <a:spLocks noGrp="1"/>
          </p:cNvSpPr>
          <p:nvPr/>
        </p:nvSpPr>
        <p:spPr>
          <a:xfrm>
            <a:off x="895350" y="2190750"/>
            <a:ext cx="819150" cy="819150"/>
          </a:xfrm>
          <a:prstGeom prst="ellipse">
            <a:avLst/>
          </a:prstGeom>
          <a:solidFill>
            <a:srgbClr val="CFE7D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DAD9B9C-1792-4F40-85F1-430F9F329C67}"/>
              </a:ext>
            </a:extLst>
          </p:cNvPr>
          <p:cNvSpPr>
            <a:spLocks noGrp="1"/>
          </p:cNvSpPr>
          <p:nvPr/>
        </p:nvSpPr>
        <p:spPr>
          <a:xfrm>
            <a:off x="895350" y="2266950"/>
            <a:ext cx="819150" cy="647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6302"/>
          </a:bodyPr>
          <a:lstStyle/>
          <a:p>
            <a:pPr algn="ctr">
              <a:lnSpc>
                <a:spcPct val="118000"/>
              </a:lnSpc>
              <a:buNone/>
              <a:defRPr sz="330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15FEB5-12BE-47BD-A4CB-AFB9BED6524B}"/>
              </a:ext>
            </a:extLst>
          </p:cNvPr>
          <p:cNvSpPr>
            <a:spLocks noGrp="1"/>
          </p:cNvSpPr>
          <p:nvPr/>
        </p:nvSpPr>
        <p:spPr>
          <a:xfrm>
            <a:off x="1943100" y="2209800"/>
            <a:ext cx="1790700" cy="876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2353"/>
          </a:bodyPr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32세 / </a:t>
            </a:r>
            <a:r>
              <a:rPr sz="12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임신</a:t>
            </a:r>
            <a:r>
              <a:rPr sz="12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24주차</a:t>
            </a: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첫 </a:t>
            </a:r>
            <a:r>
              <a:rPr sz="12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임신</a:t>
            </a:r>
            <a:r>
              <a:rPr sz="12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또는</a:t>
            </a:r>
            <a:r>
              <a:rPr sz="12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출산</a:t>
            </a:r>
            <a:r>
              <a:rPr sz="12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준비</a:t>
            </a:r>
            <a:r>
              <a:rPr sz="12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단계</a:t>
            </a:r>
            <a:endParaRPr sz="1275" b="0" dirty="0">
              <a:solidFill>
                <a:srgbClr val="1F2421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ThinQ</a:t>
            </a:r>
            <a:r>
              <a:rPr sz="12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연결</a:t>
            </a:r>
            <a:r>
              <a:rPr sz="12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가전</a:t>
            </a:r>
            <a:r>
              <a:rPr sz="1275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4종 </a:t>
            </a:r>
            <a:r>
              <a:rPr sz="1275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보유</a:t>
            </a:r>
            <a:endParaRPr sz="1275" b="0" dirty="0">
              <a:solidFill>
                <a:srgbClr val="1F242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3AB1DE-C61E-4CE5-80A6-D3555C3E7D24}"/>
              </a:ext>
            </a:extLst>
          </p:cNvPr>
          <p:cNvSpPr>
            <a:spLocks noGrp="1"/>
          </p:cNvSpPr>
          <p:nvPr/>
        </p:nvSpPr>
        <p:spPr>
          <a:xfrm>
            <a:off x="895350" y="3390900"/>
            <a:ext cx="2514600" cy="1181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4359"/>
          </a:bodyPr>
          <a:lstStyle/>
          <a:p>
            <a:pPr algn="l">
              <a:lnSpc>
                <a:spcPct val="130000"/>
              </a:lnSpc>
              <a:buNone/>
              <a:defRPr sz="1500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식사와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세탁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침실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공기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냉장고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냄새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병원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일정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출산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준비까지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함께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챙겨야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한다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. </a:t>
            </a: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임신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앱은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보지만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집에서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무엇을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해야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할지는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따로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500" b="0" dirty="0" err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검색한다</a:t>
            </a:r>
            <a:r>
              <a:rPr sz="1500" b="0" dirty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5E70BF-C8D8-45CF-B8F1-A2702FD7EFA7}"/>
              </a:ext>
            </a:extLst>
          </p:cNvPr>
          <p:cNvSpPr>
            <a:spLocks noGrp="1"/>
          </p:cNvSpPr>
          <p:nvPr/>
        </p:nvSpPr>
        <p:spPr>
          <a:xfrm>
            <a:off x="895350" y="4914900"/>
            <a:ext cx="257175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61794"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Needs: 검색 대신 제안, 혼자 대신 가족 공유, 정보 대신 실행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B99ADDF-FB30-429B-8795-68A56D349882}"/>
              </a:ext>
            </a:extLst>
          </p:cNvPr>
          <p:cNvSpPr>
            <a:spLocks noGrp="1"/>
          </p:cNvSpPr>
          <p:nvPr/>
        </p:nvSpPr>
        <p:spPr>
          <a:xfrm>
            <a:off x="4743450" y="2019300"/>
            <a:ext cx="27813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030C61-0472-413E-A898-198A74A2E881}"/>
              </a:ext>
            </a:extLst>
          </p:cNvPr>
          <p:cNvSpPr>
            <a:spLocks noGrp="1"/>
          </p:cNvSpPr>
          <p:nvPr/>
        </p:nvSpPr>
        <p:spPr>
          <a:xfrm>
            <a:off x="4953000" y="22098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3984"/>
          </a:bodyPr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생활관리 기억 부담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556344-63AB-45CA-9A03-3A39F4770939}"/>
              </a:ext>
            </a:extLst>
          </p:cNvPr>
          <p:cNvSpPr>
            <a:spLocks noGrp="1"/>
          </p:cNvSpPr>
          <p:nvPr/>
        </p:nvSpPr>
        <p:spPr>
          <a:xfrm>
            <a:off x="4953000" y="2571750"/>
            <a:ext cx="22098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5000"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수분·복용·병원일정·출산준비를 각각 기록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89A7415-A1C5-4A29-A469-895B94124ABA}"/>
              </a:ext>
            </a:extLst>
          </p:cNvPr>
          <p:cNvSpPr>
            <a:spLocks noGrp="1"/>
          </p:cNvSpPr>
          <p:nvPr/>
        </p:nvSpPr>
        <p:spPr>
          <a:xfrm>
            <a:off x="7886700" y="2019300"/>
            <a:ext cx="2781300" cy="1200150"/>
          </a:xfrm>
          <a:prstGeom prst="rect">
            <a:avLst/>
          </a:prstGeom>
          <a:solidFill>
            <a:srgbClr val="F1E8D8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1E0CCE5-6791-40F7-9421-A486EF3DEDCC}"/>
              </a:ext>
            </a:extLst>
          </p:cNvPr>
          <p:cNvSpPr>
            <a:spLocks noGrp="1"/>
          </p:cNvSpPr>
          <p:nvPr/>
        </p:nvSpPr>
        <p:spPr>
          <a:xfrm>
            <a:off x="8096250" y="22098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3984"/>
          </a:bodyPr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rPr>
              <a:t>위생 루틴 누락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0E49EC6-1AB8-4C2E-88EA-010A470FA835}"/>
              </a:ext>
            </a:extLst>
          </p:cNvPr>
          <p:cNvSpPr>
            <a:spLocks noGrp="1"/>
          </p:cNvSpPr>
          <p:nvPr/>
        </p:nvSpPr>
        <p:spPr>
          <a:xfrm>
            <a:off x="8096250" y="2571750"/>
            <a:ext cx="22098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359"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침구·속옷·아기옷 세탁 시점이 불명확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7F95AEA-A0A1-4DB1-81AF-63A73733F91B}"/>
              </a:ext>
            </a:extLst>
          </p:cNvPr>
          <p:cNvSpPr>
            <a:spLocks noGrp="1"/>
          </p:cNvSpPr>
          <p:nvPr/>
        </p:nvSpPr>
        <p:spPr>
          <a:xfrm>
            <a:off x="4743450" y="3638550"/>
            <a:ext cx="27813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993066F-E44E-4C4A-94B6-7859547A0416}"/>
              </a:ext>
            </a:extLst>
          </p:cNvPr>
          <p:cNvSpPr>
            <a:spLocks noGrp="1"/>
          </p:cNvSpPr>
          <p:nvPr/>
        </p:nvSpPr>
        <p:spPr>
          <a:xfrm>
            <a:off x="4953000" y="382905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3984"/>
          </a:bodyPr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rPr>
              <a:t>환경 민감도 증가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5E492CD-A78D-45B9-9B18-B721E22E2679}"/>
              </a:ext>
            </a:extLst>
          </p:cNvPr>
          <p:cNvSpPr>
            <a:spLocks noGrp="1"/>
          </p:cNvSpPr>
          <p:nvPr/>
        </p:nvSpPr>
        <p:spPr>
          <a:xfrm>
            <a:off x="4953000" y="4191000"/>
            <a:ext cx="22098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5000"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냄새·습도·미세먼지에 예민하지만 조작은 수동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5AC65D2-709D-40D2-B637-A69FF2F84A40}"/>
              </a:ext>
            </a:extLst>
          </p:cNvPr>
          <p:cNvSpPr>
            <a:spLocks noGrp="1"/>
          </p:cNvSpPr>
          <p:nvPr/>
        </p:nvSpPr>
        <p:spPr>
          <a:xfrm>
            <a:off x="7886700" y="3638550"/>
            <a:ext cx="2781300" cy="1200150"/>
          </a:xfrm>
          <a:prstGeom prst="rect">
            <a:avLst/>
          </a:prstGeom>
          <a:solidFill>
            <a:srgbClr val="F1E8D8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60FAAFD-209D-4530-9EE0-6D93CBD64FD4}"/>
              </a:ext>
            </a:extLst>
          </p:cNvPr>
          <p:cNvSpPr>
            <a:spLocks noGrp="1"/>
          </p:cNvSpPr>
          <p:nvPr/>
        </p:nvSpPr>
        <p:spPr>
          <a:xfrm>
            <a:off x="8096250" y="382905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3984"/>
          </a:bodyPr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3B6C8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3B6C8E"/>
                </a:solidFill>
                <a:latin typeface="Malgun Gothic"/>
                <a:ea typeface="Malgun Gothic"/>
                <a:cs typeface="Malgun Gothic"/>
              </a:rPr>
              <a:t>가족 협업 어려움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6623935-7664-4C84-9A1B-090FDB3B148B}"/>
              </a:ext>
            </a:extLst>
          </p:cNvPr>
          <p:cNvSpPr>
            <a:spLocks noGrp="1"/>
          </p:cNvSpPr>
          <p:nvPr/>
        </p:nvSpPr>
        <p:spPr>
          <a:xfrm>
            <a:off x="8096250" y="4191000"/>
            <a:ext cx="22098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5000"/>
          </a:bodyPr>
          <a:lstStyle/>
          <a:p>
            <a:pPr algn="l">
              <a:lnSpc>
                <a:spcPct val="125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배우자가 도와주고 싶어도 할 일이 보이지 않음</a:t>
            </a:r>
          </a:p>
        </p:txBody>
      </p:sp>
    </p:spTree>
    <p:extLst>
      <p:ext uri="{BB962C8B-B14F-4D97-AF65-F5344CB8AC3E}">
        <p14:creationId xmlns:p14="http://schemas.microsoft.com/office/powerpoint/2010/main" val="1632362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9318D2FC-7DB5-49FA-8D71-6ABA53A393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44E319E-94A7-427A-945B-1642E0750BE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6200" cy="209550"/>
          </a:xfrm>
          <a:prstGeom prst="rect">
            <a:avLst/>
          </a:prstGeom>
          <a:solidFill>
            <a:srgbClr val="A7193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D70BAB-D667-4F83-BE18-ABE769485873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DATA STRATEGY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A19D2FF-EA6E-473E-B787-F46C0608E125}"/>
              </a:ext>
            </a:extLst>
          </p:cNvPr>
          <p:cNvSpPr>
            <a:spLocks noGrp="1"/>
          </p:cNvSpPr>
          <p:nvPr/>
        </p:nvSpPr>
        <p:spPr>
          <a:xfrm>
            <a:off x="609600" y="857250"/>
            <a:ext cx="72390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811"/>
          </a:bodyPr>
          <a:lstStyle/>
          <a:p>
            <a:pPr algn="l">
              <a:lnSpc>
                <a:spcPct val="110000"/>
              </a:lnSpc>
              <a:buNone/>
              <a:def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소셜데이터는 임산부의 ‘생활 불편 언어’를 제품 루틴으로 바꾸는 재료다.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D30229-708B-48D0-BFAF-275C4B62C349}"/>
              </a:ext>
            </a:extLst>
          </p:cNvPr>
          <p:cNvSpPr>
            <a:spLocks noGrp="1"/>
          </p:cNvSpPr>
          <p:nvPr/>
        </p:nvSpPr>
        <p:spPr>
          <a:xfrm>
            <a:off x="609600" y="6329363"/>
            <a:ext cx="10439400" cy="9525"/>
          </a:xfrm>
          <a:prstGeom prst="rect">
            <a:avLst/>
          </a:prstGeom>
          <a:solidFill>
            <a:srgbClr val="D9D0C0"/>
          </a:solidFill>
          <a:ln w="0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896AC34-E798-4337-B125-66ACE67DA6E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ThinQ Care Routine | DX Project Draft  |  04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5E48601-5079-4224-8CBA-8C9A4F079C82}"/>
              </a:ext>
            </a:extLst>
          </p:cNvPr>
          <p:cNvSpPr>
            <a:spLocks noGrp="1"/>
          </p:cNvSpPr>
          <p:nvPr/>
        </p:nvSpPr>
        <p:spPr>
          <a:xfrm>
            <a:off x="704850" y="2152650"/>
            <a:ext cx="2266950" cy="1809750"/>
          </a:xfrm>
          <a:prstGeom prst="rect">
            <a:avLst/>
          </a:prstGeom>
          <a:solidFill>
            <a:srgbClr val="FFF9E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3A76258-2149-4E0D-8706-98302A3C50F7}"/>
              </a:ext>
            </a:extLst>
          </p:cNvPr>
          <p:cNvSpPr>
            <a:spLocks noGrp="1"/>
          </p:cNvSpPr>
          <p:nvPr/>
        </p:nvSpPr>
        <p:spPr>
          <a:xfrm>
            <a:off x="895350" y="240030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0621"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수집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1F1358-D790-40A2-AA42-8AEB32DB2337}"/>
              </a:ext>
            </a:extLst>
          </p:cNvPr>
          <p:cNvSpPr>
            <a:spLocks noGrp="1"/>
          </p:cNvSpPr>
          <p:nvPr/>
        </p:nvSpPr>
        <p:spPr>
          <a:xfrm>
            <a:off x="895350" y="2914650"/>
            <a:ext cx="1771650" cy="781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맘카페·블로그·쇼핑리뷰·ThinQ 앱 리뷰·VOC·날씨/미세먼지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241807-3588-41C1-B481-7862A535AB12}"/>
              </a:ext>
            </a:extLst>
          </p:cNvPr>
          <p:cNvSpPr>
            <a:spLocks noGrp="1"/>
          </p:cNvSpPr>
          <p:nvPr/>
        </p:nvSpPr>
        <p:spPr>
          <a:xfrm>
            <a:off x="2971800" y="3033713"/>
            <a:ext cx="419100" cy="28575"/>
          </a:xfrm>
          <a:prstGeom prst="rect">
            <a:avLst/>
          </a:prstGeom>
          <a:solidFill>
            <a:srgbClr val="D44731"/>
          </a:solidFill>
          <a:ln w="0">
            <a:solidFill>
              <a:srgbClr val="D4473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AE83E9-F767-4A16-B1B0-037DF8C2443C}"/>
              </a:ext>
            </a:extLst>
          </p:cNvPr>
          <p:cNvSpPr>
            <a:spLocks noGrp="1"/>
          </p:cNvSpPr>
          <p:nvPr/>
        </p:nvSpPr>
        <p:spPr>
          <a:xfrm>
            <a:off x="3390900" y="2152650"/>
            <a:ext cx="22669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ECD2697-9FC1-424C-B1E3-23405D6F0B91}"/>
              </a:ext>
            </a:extLst>
          </p:cNvPr>
          <p:cNvSpPr>
            <a:spLocks noGrp="1"/>
          </p:cNvSpPr>
          <p:nvPr/>
        </p:nvSpPr>
        <p:spPr>
          <a:xfrm>
            <a:off x="3581400" y="240030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0621"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rPr>
              <a:t>전처리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2259D18-1435-474B-B1E3-6138F5CD4067}"/>
              </a:ext>
            </a:extLst>
          </p:cNvPr>
          <p:cNvSpPr>
            <a:spLocks noGrp="1"/>
          </p:cNvSpPr>
          <p:nvPr/>
        </p:nvSpPr>
        <p:spPr>
          <a:xfrm>
            <a:off x="3581400" y="2914650"/>
            <a:ext cx="1771650" cy="781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5047"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중복 제거, 제품군 태깅, 임신 주차·생활공간·불편상황 키워드 분류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A616F12-4EAB-481E-AF2D-3C22BFFCC7BC}"/>
              </a:ext>
            </a:extLst>
          </p:cNvPr>
          <p:cNvSpPr>
            <a:spLocks noGrp="1"/>
          </p:cNvSpPr>
          <p:nvPr/>
        </p:nvSpPr>
        <p:spPr>
          <a:xfrm>
            <a:off x="5657850" y="3033713"/>
            <a:ext cx="419100" cy="28575"/>
          </a:xfrm>
          <a:prstGeom prst="rect">
            <a:avLst/>
          </a:prstGeom>
          <a:solidFill>
            <a:srgbClr val="D44731"/>
          </a:solidFill>
          <a:ln w="0">
            <a:solidFill>
              <a:srgbClr val="D4473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9DF603-9823-42BE-AD55-7EC405986182}"/>
              </a:ext>
            </a:extLst>
          </p:cNvPr>
          <p:cNvSpPr>
            <a:spLocks noGrp="1"/>
          </p:cNvSpPr>
          <p:nvPr/>
        </p:nvSpPr>
        <p:spPr>
          <a:xfrm>
            <a:off x="6076950" y="2152650"/>
            <a:ext cx="2266950" cy="1809750"/>
          </a:xfrm>
          <a:prstGeom prst="rect">
            <a:avLst/>
          </a:prstGeom>
          <a:solidFill>
            <a:srgbClr val="FFF9E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BF6E3F2-B8D0-4AF0-A63A-8AD0FF103A1F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0621"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rPr>
              <a:t>분석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0A606C5-01CC-44F6-B12D-332E29EEB14F}"/>
              </a:ext>
            </a:extLst>
          </p:cNvPr>
          <p:cNvSpPr>
            <a:spLocks noGrp="1"/>
          </p:cNvSpPr>
          <p:nvPr/>
        </p:nvSpPr>
        <p:spPr>
          <a:xfrm>
            <a:off x="6267450" y="2914650"/>
            <a:ext cx="1771650" cy="781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토픽 모델링, 빈도/동시출현, Pain Point-제품 매핑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79EA7FE-7204-4569-89C2-7CA94C40EF3D}"/>
              </a:ext>
            </a:extLst>
          </p:cNvPr>
          <p:cNvSpPr>
            <a:spLocks noGrp="1"/>
          </p:cNvSpPr>
          <p:nvPr/>
        </p:nvSpPr>
        <p:spPr>
          <a:xfrm>
            <a:off x="8343900" y="3033713"/>
            <a:ext cx="419100" cy="28575"/>
          </a:xfrm>
          <a:prstGeom prst="rect">
            <a:avLst/>
          </a:prstGeom>
          <a:solidFill>
            <a:srgbClr val="D44731"/>
          </a:solidFill>
          <a:ln w="0">
            <a:solidFill>
              <a:srgbClr val="D4473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BBAC32E-08DB-4D05-9349-8D8A3056374B}"/>
              </a:ext>
            </a:extLst>
          </p:cNvPr>
          <p:cNvSpPr>
            <a:spLocks noGrp="1"/>
          </p:cNvSpPr>
          <p:nvPr/>
        </p:nvSpPr>
        <p:spPr>
          <a:xfrm>
            <a:off x="8763000" y="2152650"/>
            <a:ext cx="22669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87D2740-2100-4CA4-BDA9-D2744F5CD136}"/>
              </a:ext>
            </a:extLst>
          </p:cNvPr>
          <p:cNvSpPr>
            <a:spLocks noGrp="1"/>
          </p:cNvSpPr>
          <p:nvPr/>
        </p:nvSpPr>
        <p:spPr>
          <a:xfrm>
            <a:off x="8953500" y="2400300"/>
            <a:ext cx="1428750" cy="304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0621"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3B6C8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B6C8E"/>
                </a:solidFill>
                <a:latin typeface="Malgun Gothic"/>
                <a:ea typeface="Malgun Gothic"/>
                <a:cs typeface="Malgun Gothic"/>
              </a:rPr>
              <a:t>서비스화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C5D449D-5299-442A-86F6-49185357C710}"/>
              </a:ext>
            </a:extLst>
          </p:cNvPr>
          <p:cNvSpPr>
            <a:spLocks noGrp="1"/>
          </p:cNvSpPr>
          <p:nvPr/>
        </p:nvSpPr>
        <p:spPr>
          <a:xfrm>
            <a:off x="8953500" y="2914650"/>
            <a:ext cx="1771650" cy="781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lnSpc>
                <a:spcPct val="122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상황 트리거, 자동 루틴, 가족 체크리스트, 성과지표 설계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87D5821-C034-409B-9C57-0E253403558D}"/>
              </a:ext>
            </a:extLst>
          </p:cNvPr>
          <p:cNvSpPr>
            <a:spLocks noGrp="1"/>
          </p:cNvSpPr>
          <p:nvPr/>
        </p:nvSpPr>
        <p:spPr>
          <a:xfrm>
            <a:off x="876300" y="4686300"/>
            <a:ext cx="1809750" cy="361950"/>
          </a:xfrm>
          <a:prstGeom prst="rect">
            <a:avLst/>
          </a:prstGeom>
          <a:solidFill>
            <a:srgbClr val="A71930"/>
          </a:solidFill>
          <a:ln w="0">
            <a:solidFill>
              <a:srgbClr val="A71930"/>
            </a:solidFill>
          </a:ln>
        </p:spPr>
        <p:txBody>
          <a:bodyPr lIns="95250" tIns="0" rIns="95250" bIns="0" anchor="ctr"/>
          <a:lstStyle/>
          <a:p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입덧 냄새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B5D720D-633E-4728-AE86-F15F28453127}"/>
              </a:ext>
            </a:extLst>
          </p:cNvPr>
          <p:cNvSpPr>
            <a:spLocks noGrp="1"/>
          </p:cNvSpPr>
          <p:nvPr/>
        </p:nvSpPr>
        <p:spPr>
          <a:xfrm>
            <a:off x="3305175" y="4686300"/>
            <a:ext cx="1809750" cy="361950"/>
          </a:xfrm>
          <a:prstGeom prst="rect">
            <a:avLst/>
          </a:prstGeom>
          <a:solidFill>
            <a:srgbClr val="2F6F5E"/>
          </a:solidFill>
          <a:ln w="0">
            <a:solidFill>
              <a:srgbClr val="2F6F5E"/>
            </a:solidFill>
          </a:ln>
        </p:spPr>
        <p:txBody>
          <a:bodyPr lIns="95250" tIns="0" rIns="95250" bIns="0" anchor="ctr"/>
          <a:lstStyle/>
          <a:p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임산부 세탁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8D01A12-0853-46C5-8D8E-7BE0DB67B22E}"/>
              </a:ext>
            </a:extLst>
          </p:cNvPr>
          <p:cNvSpPr>
            <a:spLocks noGrp="1"/>
          </p:cNvSpPr>
          <p:nvPr/>
        </p:nvSpPr>
        <p:spPr>
          <a:xfrm>
            <a:off x="5734050" y="4686300"/>
            <a:ext cx="1809750" cy="361950"/>
          </a:xfrm>
          <a:prstGeom prst="rect">
            <a:avLst/>
          </a:prstGeom>
          <a:solidFill>
            <a:srgbClr val="C8952E"/>
          </a:solidFill>
          <a:ln w="0">
            <a:solidFill>
              <a:srgbClr val="C8952E"/>
            </a:solidFill>
          </a:ln>
        </p:spPr>
        <p:txBody>
          <a:bodyPr lIns="95250" tIns="0" rIns="95250" bIns="0" anchor="ctr"/>
          <a:lstStyle/>
          <a:p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아기 옷 세탁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FB91000-BF69-437F-9530-7C2A8ACCCE01}"/>
              </a:ext>
            </a:extLst>
          </p:cNvPr>
          <p:cNvSpPr>
            <a:spLocks noGrp="1"/>
          </p:cNvSpPr>
          <p:nvPr/>
        </p:nvSpPr>
        <p:spPr>
          <a:xfrm>
            <a:off x="8162925" y="4686300"/>
            <a:ext cx="1809750" cy="361950"/>
          </a:xfrm>
          <a:prstGeom prst="rect">
            <a:avLst/>
          </a:prstGeom>
          <a:solidFill>
            <a:srgbClr val="3B6C8E"/>
          </a:solidFill>
          <a:ln w="0">
            <a:solidFill>
              <a:srgbClr val="3B6C8E"/>
            </a:solidFill>
          </a:ln>
        </p:spPr>
        <p:txBody>
          <a:bodyPr lIns="95250" tIns="0" rIns="95250" bIns="0" anchor="ctr"/>
          <a:lstStyle/>
          <a:p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공기청정기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7E5E39A-C086-448A-9138-3E324AED01A6}"/>
              </a:ext>
            </a:extLst>
          </p:cNvPr>
          <p:cNvSpPr>
            <a:spLocks noGrp="1"/>
          </p:cNvSpPr>
          <p:nvPr/>
        </p:nvSpPr>
        <p:spPr>
          <a:xfrm>
            <a:off x="876300" y="5238750"/>
            <a:ext cx="1809750" cy="361950"/>
          </a:xfrm>
          <a:prstGeom prst="rect">
            <a:avLst/>
          </a:prstGeom>
          <a:solidFill>
            <a:srgbClr val="A71930"/>
          </a:solidFill>
          <a:ln w="0">
            <a:solidFill>
              <a:srgbClr val="A71930"/>
            </a:solidFill>
          </a:ln>
        </p:spPr>
        <p:txBody>
          <a:bodyPr lIns="95250" tIns="0" rIns="95250" bIns="0" anchor="ctr"/>
          <a:lstStyle/>
          <a:p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정수기 물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4BAA8A5-BDE7-4B48-B309-392B984DB452}"/>
              </a:ext>
            </a:extLst>
          </p:cNvPr>
          <p:cNvSpPr>
            <a:spLocks noGrp="1"/>
          </p:cNvSpPr>
          <p:nvPr/>
        </p:nvSpPr>
        <p:spPr>
          <a:xfrm>
            <a:off x="3305175" y="5238750"/>
            <a:ext cx="1809750" cy="361950"/>
          </a:xfrm>
          <a:prstGeom prst="rect">
            <a:avLst/>
          </a:prstGeom>
          <a:solidFill>
            <a:srgbClr val="2F6F5E"/>
          </a:solidFill>
          <a:ln w="0">
            <a:solidFill>
              <a:srgbClr val="2F6F5E"/>
            </a:solidFill>
          </a:ln>
        </p:spPr>
        <p:txBody>
          <a:bodyPr lIns="95250" tIns="0" rIns="95250" bIns="0" anchor="ctr"/>
          <a:lstStyle/>
          <a:p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냉장고 냄새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61C96AC-BF0A-4729-961E-DCD470AFF257}"/>
              </a:ext>
            </a:extLst>
          </p:cNvPr>
          <p:cNvSpPr>
            <a:spLocks noGrp="1"/>
          </p:cNvSpPr>
          <p:nvPr/>
        </p:nvSpPr>
        <p:spPr>
          <a:xfrm>
            <a:off x="5734050" y="5238750"/>
            <a:ext cx="1809750" cy="361950"/>
          </a:xfrm>
          <a:prstGeom prst="rect">
            <a:avLst/>
          </a:prstGeom>
          <a:solidFill>
            <a:srgbClr val="C8952E"/>
          </a:solidFill>
          <a:ln w="0">
            <a:solidFill>
              <a:srgbClr val="C8952E"/>
            </a:solidFill>
          </a:ln>
        </p:spPr>
        <p:txBody>
          <a:bodyPr lIns="95250" tIns="0" rIns="95250" bIns="0" anchor="ctr"/>
          <a:lstStyle/>
          <a:p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출산 준비물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EFF0930-082E-4D15-8B8B-2C690933D9AF}"/>
              </a:ext>
            </a:extLst>
          </p:cNvPr>
          <p:cNvSpPr>
            <a:spLocks noGrp="1"/>
          </p:cNvSpPr>
          <p:nvPr/>
        </p:nvSpPr>
        <p:spPr>
          <a:xfrm>
            <a:off x="8162925" y="5238750"/>
            <a:ext cx="1809750" cy="361950"/>
          </a:xfrm>
          <a:prstGeom prst="rect">
            <a:avLst/>
          </a:prstGeom>
          <a:solidFill>
            <a:srgbClr val="3B6C8E"/>
          </a:solidFill>
          <a:ln w="0">
            <a:solidFill>
              <a:srgbClr val="3B6C8E"/>
            </a:solidFill>
          </a:ln>
        </p:spPr>
        <p:txBody>
          <a:bodyPr lIns="95250" tIns="0" rIns="95250" bIns="0" anchor="ctr"/>
          <a:lstStyle/>
          <a:p>
            <a:pPr algn="ctr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식단 기록</a:t>
            </a:r>
          </a:p>
        </p:txBody>
      </p:sp>
    </p:spTree>
    <p:extLst>
      <p:ext uri="{BB962C8B-B14F-4D97-AF65-F5344CB8AC3E}">
        <p14:creationId xmlns:p14="http://schemas.microsoft.com/office/powerpoint/2010/main" val="1992868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8EB548AC-AF3F-41F8-B9CF-4E3C0D5112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74FFB17-3D2E-427D-9071-17E34F63C35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6200" cy="209550"/>
          </a:xfrm>
          <a:prstGeom prst="rect">
            <a:avLst/>
          </a:prstGeom>
          <a:solidFill>
            <a:srgbClr val="A7193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1E34CC-F785-4967-8576-269F51A83A61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SERVICE CONCEPT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7807434-6810-4524-AC4B-B8D15B1D0157}"/>
              </a:ext>
            </a:extLst>
          </p:cNvPr>
          <p:cNvSpPr>
            <a:spLocks noGrp="1"/>
          </p:cNvSpPr>
          <p:nvPr/>
        </p:nvSpPr>
        <p:spPr>
          <a:xfrm>
            <a:off x="609600" y="857250"/>
            <a:ext cx="72390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811"/>
          </a:bodyPr>
          <a:lstStyle/>
          <a:p>
            <a:pPr algn="l">
              <a:lnSpc>
                <a:spcPct val="110000"/>
              </a:lnSpc>
              <a:buNone/>
              <a:def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다이어리는 입력 수단이고, 핵심 가치는 상황 기반 자동 루틴이다.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80DD7C2-6A3B-4226-BBB8-A1A335C61524}"/>
              </a:ext>
            </a:extLst>
          </p:cNvPr>
          <p:cNvSpPr>
            <a:spLocks noGrp="1"/>
          </p:cNvSpPr>
          <p:nvPr/>
        </p:nvSpPr>
        <p:spPr>
          <a:xfrm>
            <a:off x="609600" y="6329363"/>
            <a:ext cx="10439400" cy="9525"/>
          </a:xfrm>
          <a:prstGeom prst="rect">
            <a:avLst/>
          </a:prstGeom>
          <a:solidFill>
            <a:srgbClr val="D9D0C0"/>
          </a:solidFill>
          <a:ln w="0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76252F-3B83-4C87-9EB5-91B1D1A35C3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ThinQ Care Routine | DX Project Draft  |  05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1A71899-3E45-4B66-B286-BE8EF4E715F3}"/>
              </a:ext>
            </a:extLst>
          </p:cNvPr>
          <p:cNvSpPr>
            <a:spLocks noGrp="1"/>
          </p:cNvSpPr>
          <p:nvPr/>
        </p:nvSpPr>
        <p:spPr>
          <a:xfrm>
            <a:off x="4686300" y="1943100"/>
            <a:ext cx="2552700" cy="2552700"/>
          </a:xfrm>
          <a:prstGeom prst="ellipse">
            <a:avLst/>
          </a:prstGeom>
          <a:solidFill>
            <a:srgbClr val="A71930"/>
          </a:solidFill>
          <a:ln w="0">
            <a:solidFill>
              <a:srgbClr val="A7193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980F49-8F82-4280-B243-8A81CD0BA35B}"/>
              </a:ext>
            </a:extLst>
          </p:cNvPr>
          <p:cNvSpPr>
            <a:spLocks noGrp="1"/>
          </p:cNvSpPr>
          <p:nvPr/>
        </p:nvSpPr>
        <p:spPr>
          <a:xfrm>
            <a:off x="5067300" y="2647950"/>
            <a:ext cx="1790700" cy="876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6419"/>
          </a:bodyPr>
          <a:lstStyle/>
          <a:p>
            <a:pPr algn="ctr">
              <a:lnSpc>
                <a:spcPct val="110000"/>
              </a:lnSpc>
              <a:buNone/>
              <a:def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상황 기반</a:t>
            </a:r>
          </a:p>
          <a:p>
            <a:pPr algn="ctr">
              <a:lnSpc>
                <a:spcPct val="110000"/>
              </a:lnSpc>
              <a:buNone/>
              <a:def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 루틴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6DE882A-2D7C-4E3E-ADBB-377850022DFD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2952750" cy="990600"/>
          </a:xfrm>
          <a:prstGeom prst="rect">
            <a:avLst/>
          </a:prstGeom>
          <a:solidFill>
            <a:srgbClr val="FFF9EF"/>
          </a:solidFill>
          <a:ln w="19050">
            <a:solidFill>
              <a:srgbClr val="2F6F5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397ECD8-85CC-4B9D-8281-CFF248A842D9}"/>
              </a:ext>
            </a:extLst>
          </p:cNvPr>
          <p:cNvSpPr>
            <a:spLocks noGrp="1"/>
          </p:cNvSpPr>
          <p:nvPr/>
        </p:nvSpPr>
        <p:spPr>
          <a:xfrm>
            <a:off x="1085850" y="241935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61410"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rPr>
              <a:t>생활 기록 입력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EEB698-7702-4C73-987D-7FB2923F31A2}"/>
              </a:ext>
            </a:extLst>
          </p:cNvPr>
          <p:cNvSpPr>
            <a:spLocks noGrp="1"/>
          </p:cNvSpPr>
          <p:nvPr/>
        </p:nvSpPr>
        <p:spPr>
          <a:xfrm>
            <a:off x="1085850" y="2800350"/>
            <a:ext cx="24003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97105"/>
          </a:bodyPr>
          <a:lstStyle/>
          <a:p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입덧 냄새·수분·세탁·일정 체크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795294-5B51-403C-BDFC-5E718B486876}"/>
              </a:ext>
            </a:extLst>
          </p:cNvPr>
          <p:cNvSpPr>
            <a:spLocks noGrp="1"/>
          </p:cNvSpPr>
          <p:nvPr/>
        </p:nvSpPr>
        <p:spPr>
          <a:xfrm>
            <a:off x="8020050" y="2247900"/>
            <a:ext cx="2952750" cy="990600"/>
          </a:xfrm>
          <a:prstGeom prst="rect">
            <a:avLst/>
          </a:prstGeom>
          <a:solidFill>
            <a:srgbClr val="FFF9EF"/>
          </a:solidFill>
          <a:ln w="19050">
            <a:solidFill>
              <a:srgbClr val="C8952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E134030-B7B0-41D3-8E72-0B1C8A324D86}"/>
              </a:ext>
            </a:extLst>
          </p:cNvPr>
          <p:cNvSpPr>
            <a:spLocks noGrp="1"/>
          </p:cNvSpPr>
          <p:nvPr/>
        </p:nvSpPr>
        <p:spPr>
          <a:xfrm>
            <a:off x="8229600" y="241935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61410"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rPr>
              <a:t>환경 데이터 감지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312212-892B-4234-BE48-286D1E6B425E}"/>
              </a:ext>
            </a:extLst>
          </p:cNvPr>
          <p:cNvSpPr>
            <a:spLocks noGrp="1"/>
          </p:cNvSpPr>
          <p:nvPr/>
        </p:nvSpPr>
        <p:spPr>
          <a:xfrm>
            <a:off x="8229600" y="2800350"/>
            <a:ext cx="24003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97105"/>
          </a:bodyPr>
          <a:lstStyle/>
          <a:p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미세먼지·습도·날씨·가전 상태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66E76D9-7F58-43E5-BD8D-08415A15E79C}"/>
              </a:ext>
            </a:extLst>
          </p:cNvPr>
          <p:cNvSpPr>
            <a:spLocks noGrp="1"/>
          </p:cNvSpPr>
          <p:nvPr/>
        </p:nvSpPr>
        <p:spPr>
          <a:xfrm>
            <a:off x="1200150" y="4533900"/>
            <a:ext cx="2952750" cy="990600"/>
          </a:xfrm>
          <a:prstGeom prst="rect">
            <a:avLst/>
          </a:prstGeom>
          <a:solidFill>
            <a:srgbClr val="FFF9EF"/>
          </a:solidFill>
          <a:ln w="19050">
            <a:solidFill>
              <a:srgbClr val="3B6C8E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D68B9B1-DB56-4198-B523-6FB3AE912A6E}"/>
              </a:ext>
            </a:extLst>
          </p:cNvPr>
          <p:cNvSpPr>
            <a:spLocks noGrp="1"/>
          </p:cNvSpPr>
          <p:nvPr/>
        </p:nvSpPr>
        <p:spPr>
          <a:xfrm>
            <a:off x="1409700" y="470535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61410"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3B6C8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B6C8E"/>
                </a:solidFill>
                <a:latin typeface="Malgun Gothic"/>
                <a:ea typeface="Malgun Gothic"/>
                <a:cs typeface="Malgun Gothic"/>
              </a:rPr>
              <a:t>ThinQ 자동 실행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8E2F9AB-B7D2-4D03-B39C-919884C13FCE}"/>
              </a:ext>
            </a:extLst>
          </p:cNvPr>
          <p:cNvSpPr>
            <a:spLocks noGrp="1"/>
          </p:cNvSpPr>
          <p:nvPr/>
        </p:nvSpPr>
        <p:spPr>
          <a:xfrm>
            <a:off x="1409700" y="5086350"/>
            <a:ext cx="24003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97105"/>
          </a:bodyPr>
          <a:lstStyle/>
          <a:p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공청기·정수기·세탁기 루틴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C385FA-9872-40D9-A7BC-B6A29628513E}"/>
              </a:ext>
            </a:extLst>
          </p:cNvPr>
          <p:cNvSpPr>
            <a:spLocks noGrp="1"/>
          </p:cNvSpPr>
          <p:nvPr/>
        </p:nvSpPr>
        <p:spPr>
          <a:xfrm>
            <a:off x="7829550" y="4533900"/>
            <a:ext cx="2952750" cy="990600"/>
          </a:xfrm>
          <a:prstGeom prst="rect">
            <a:avLst/>
          </a:prstGeom>
          <a:solidFill>
            <a:srgbClr val="FFF9EF"/>
          </a:solidFill>
          <a:ln w="19050">
            <a:solidFill>
              <a:srgbClr val="D4473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61C895B-27D4-484E-8C3B-BD8CE5D57743}"/>
              </a:ext>
            </a:extLst>
          </p:cNvPr>
          <p:cNvSpPr>
            <a:spLocks noGrp="1"/>
          </p:cNvSpPr>
          <p:nvPr/>
        </p:nvSpPr>
        <p:spPr>
          <a:xfrm>
            <a:off x="8039100" y="470535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61410"/>
          </a:bodyPr>
          <a:lstStyle/>
          <a:p>
            <a:pPr algn="l">
              <a:lnSpc>
                <a:spcPct val="118000"/>
              </a:lnSpc>
              <a:buNone/>
              <a:defRPr sz="1725" b="1">
                <a:solidFill>
                  <a:srgbClr val="D447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D44731"/>
                </a:solidFill>
                <a:latin typeface="Malgun Gothic"/>
                <a:ea typeface="Malgun Gothic"/>
                <a:cs typeface="Malgun Gothic"/>
              </a:rPr>
              <a:t>가족 협업 요청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8F8D577-042C-485B-9A62-7BABE08990DF}"/>
              </a:ext>
            </a:extLst>
          </p:cNvPr>
          <p:cNvSpPr>
            <a:spLocks noGrp="1"/>
          </p:cNvSpPr>
          <p:nvPr/>
        </p:nvSpPr>
        <p:spPr>
          <a:xfrm>
            <a:off x="8039100" y="5086350"/>
            <a:ext cx="24003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97105"/>
          </a:bodyPr>
          <a:lstStyle/>
          <a:p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장보기·출산가방·세탁 분담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3E0DBAC-65F3-474F-B5AB-8C5D8E874F06}"/>
              </a:ext>
            </a:extLst>
          </p:cNvPr>
          <p:cNvSpPr>
            <a:spLocks noGrp="1"/>
          </p:cNvSpPr>
          <p:nvPr/>
        </p:nvSpPr>
        <p:spPr>
          <a:xfrm rot="1174388">
            <a:off x="3829050" y="2714625"/>
            <a:ext cx="909824" cy="19050"/>
          </a:xfrm>
          <a:prstGeom prst="rect">
            <a:avLst/>
          </a:prstGeom>
          <a:solidFill>
            <a:srgbClr val="D9D0C0"/>
          </a:solidFill>
          <a:ln w="0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485309B-8165-4CAB-83E9-E056B446CF4D}"/>
              </a:ext>
            </a:extLst>
          </p:cNvPr>
          <p:cNvSpPr>
            <a:spLocks noGrp="1"/>
          </p:cNvSpPr>
          <p:nvPr/>
        </p:nvSpPr>
        <p:spPr>
          <a:xfrm rot="-1279075">
            <a:off x="7239000" y="3019425"/>
            <a:ext cx="838416" cy="19050"/>
          </a:xfrm>
          <a:prstGeom prst="rect">
            <a:avLst/>
          </a:prstGeom>
          <a:solidFill>
            <a:srgbClr val="D9D0C0"/>
          </a:solidFill>
          <a:ln w="0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0EF1DF9-DF2A-43B6-B7ED-C3168513D490}"/>
              </a:ext>
            </a:extLst>
          </p:cNvPr>
          <p:cNvSpPr>
            <a:spLocks noGrp="1"/>
          </p:cNvSpPr>
          <p:nvPr/>
        </p:nvSpPr>
        <p:spPr>
          <a:xfrm rot="-2771609">
            <a:off x="3943350" y="4943475"/>
            <a:ext cx="1293437" cy="19050"/>
          </a:xfrm>
          <a:prstGeom prst="rect">
            <a:avLst/>
          </a:prstGeom>
          <a:solidFill>
            <a:srgbClr val="D9D0C0"/>
          </a:solidFill>
          <a:ln w="0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2491ADF-9B76-4E33-B44C-9697DF43D8DE}"/>
              </a:ext>
            </a:extLst>
          </p:cNvPr>
          <p:cNvSpPr>
            <a:spLocks noGrp="1"/>
          </p:cNvSpPr>
          <p:nvPr/>
        </p:nvSpPr>
        <p:spPr>
          <a:xfrm rot="3088984">
            <a:off x="7086600" y="4010025"/>
            <a:ext cx="1193023" cy="19050"/>
          </a:xfrm>
          <a:prstGeom prst="rect">
            <a:avLst/>
          </a:prstGeom>
          <a:solidFill>
            <a:srgbClr val="D9D0C0"/>
          </a:solidFill>
          <a:ln w="0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1FC1719-7437-4170-8D6A-C8524D419DD5}"/>
              </a:ext>
            </a:extLst>
          </p:cNvPr>
          <p:cNvSpPr>
            <a:spLocks noGrp="1"/>
          </p:cNvSpPr>
          <p:nvPr/>
        </p:nvSpPr>
        <p:spPr>
          <a:xfrm>
            <a:off x="1428750" y="5772150"/>
            <a:ext cx="88582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96302"/>
          </a:bodyPr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핵심 한 줄: 임산부의 생활 기록이 입력되면, ThinQ가 집 안 환경을 자동으로 조정한다.</a:t>
            </a:r>
          </a:p>
        </p:txBody>
      </p:sp>
    </p:spTree>
    <p:extLst>
      <p:ext uri="{BB962C8B-B14F-4D97-AF65-F5344CB8AC3E}">
        <p14:creationId xmlns:p14="http://schemas.microsoft.com/office/powerpoint/2010/main" val="1090496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64FBBC40-56C7-4BB0-8C53-FAC7D8D5AD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F70A22-9431-4228-81C8-A583BB7D662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6200" cy="209550"/>
          </a:xfrm>
          <a:prstGeom prst="rect">
            <a:avLst/>
          </a:prstGeom>
          <a:solidFill>
            <a:srgbClr val="A7193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CE81565-0843-4D89-A75D-D6DA9312654A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KEY FEATURES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51937B-F335-4CBE-9A98-EBCB812CD84F}"/>
              </a:ext>
            </a:extLst>
          </p:cNvPr>
          <p:cNvSpPr>
            <a:spLocks noGrp="1"/>
          </p:cNvSpPr>
          <p:nvPr/>
        </p:nvSpPr>
        <p:spPr>
          <a:xfrm>
            <a:off x="609600" y="857250"/>
            <a:ext cx="72390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811"/>
          </a:bodyPr>
          <a:lstStyle/>
          <a:p>
            <a:pPr algn="l">
              <a:lnSpc>
                <a:spcPct val="110000"/>
              </a:lnSpc>
              <a:buNone/>
              <a:def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핵심 기능은 ‘기록’보다 ‘트리거-자동화-공유’에 집중한다.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60C377-9BFD-49B6-AD1B-D709C63E597A}"/>
              </a:ext>
            </a:extLst>
          </p:cNvPr>
          <p:cNvSpPr>
            <a:spLocks noGrp="1"/>
          </p:cNvSpPr>
          <p:nvPr/>
        </p:nvSpPr>
        <p:spPr>
          <a:xfrm>
            <a:off x="609600" y="6329363"/>
            <a:ext cx="10439400" cy="9525"/>
          </a:xfrm>
          <a:prstGeom prst="rect">
            <a:avLst/>
          </a:prstGeom>
          <a:solidFill>
            <a:srgbClr val="D9D0C0"/>
          </a:solidFill>
          <a:ln w="0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579F90-6059-46C4-9FFE-8535D41E663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ThinQ Care Routine | DX Project Draft  |  06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4227054-E36C-4891-9F02-8DA11FE5515A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9525000" cy="514350"/>
          </a:xfrm>
          <a:prstGeom prst="rect">
            <a:avLst/>
          </a:prstGeom>
          <a:solidFill>
            <a:srgbClr val="FFF9E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64E0003-C49C-4ED1-B392-AE47F0D0E92D}"/>
              </a:ext>
            </a:extLst>
          </p:cNvPr>
          <p:cNvSpPr>
            <a:spLocks noGrp="1"/>
          </p:cNvSpPr>
          <p:nvPr/>
        </p:nvSpPr>
        <p:spPr>
          <a:xfrm>
            <a:off x="1028700" y="205740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70621"/>
          </a:bodyPr>
          <a:lstStyle/>
          <a:p>
            <a:pPr algn="ctr">
              <a:lnSpc>
                <a:spcPct val="118000"/>
              </a:lnSpc>
              <a:buNone/>
              <a:defRPr sz="15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9A2E72-D061-44A7-BB37-B364A418FEBD}"/>
              </a:ext>
            </a:extLst>
          </p:cNvPr>
          <p:cNvSpPr>
            <a:spLocks noGrp="1"/>
          </p:cNvSpPr>
          <p:nvPr/>
        </p:nvSpPr>
        <p:spPr>
          <a:xfrm>
            <a:off x="1809750" y="203835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0710"/>
          </a:bodyPr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상황 기반 자동 루틴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73C2A6A-770D-4C0D-A7FE-F83753E7D966}"/>
              </a:ext>
            </a:extLst>
          </p:cNvPr>
          <p:cNvSpPr>
            <a:spLocks noGrp="1"/>
          </p:cNvSpPr>
          <p:nvPr/>
        </p:nvSpPr>
        <p:spPr>
          <a:xfrm>
            <a:off x="4610100" y="2066925"/>
            <a:ext cx="521970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8277"/>
          </a:bodyPr>
          <a:lstStyle/>
          <a:p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입덧 냄새, 취침 시간, 비 오는 날, 아기 옷 세탁 체크를 자동화 트리거로 활용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2038A4-8318-473C-94DC-88D97AF639DD}"/>
              </a:ext>
            </a:extLst>
          </p:cNvPr>
          <p:cNvSpPr>
            <a:spLocks noGrp="1"/>
          </p:cNvSpPr>
          <p:nvPr/>
        </p:nvSpPr>
        <p:spPr>
          <a:xfrm>
            <a:off x="838200" y="2695575"/>
            <a:ext cx="9525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1B62842-DA5D-4125-8EAD-799C1148A070}"/>
              </a:ext>
            </a:extLst>
          </p:cNvPr>
          <p:cNvSpPr>
            <a:spLocks noGrp="1"/>
          </p:cNvSpPr>
          <p:nvPr/>
        </p:nvSpPr>
        <p:spPr>
          <a:xfrm>
            <a:off x="1028700" y="28003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70621"/>
          </a:bodyPr>
          <a:lstStyle/>
          <a:p>
            <a:pPr algn="ctr">
              <a:lnSpc>
                <a:spcPct val="118000"/>
              </a:lnSpc>
              <a:buNone/>
              <a:defRPr sz="150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25129A9-CA3D-415C-8FEC-C252971668D3}"/>
              </a:ext>
            </a:extLst>
          </p:cNvPr>
          <p:cNvSpPr>
            <a:spLocks noGrp="1"/>
          </p:cNvSpPr>
          <p:nvPr/>
        </p:nvSpPr>
        <p:spPr>
          <a:xfrm>
            <a:off x="1809750" y="27813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0710"/>
          </a:bodyPr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생활환경 점검 카드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C37F0C-99EE-4F83-968A-952B4FC0F861}"/>
              </a:ext>
            </a:extLst>
          </p:cNvPr>
          <p:cNvSpPr>
            <a:spLocks noGrp="1"/>
          </p:cNvSpPr>
          <p:nvPr/>
        </p:nvSpPr>
        <p:spPr>
          <a:xfrm>
            <a:off x="4610100" y="2809875"/>
            <a:ext cx="521970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8277"/>
          </a:bodyPr>
          <a:lstStyle/>
          <a:p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침실 습도, 공기질, 냉장고 냄새, 침구 세탁 주기를 오늘의 카드로 요약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7A18952-99BF-4399-8E65-46942D8CE697}"/>
              </a:ext>
            </a:extLst>
          </p:cNvPr>
          <p:cNvSpPr>
            <a:spLocks noGrp="1"/>
          </p:cNvSpPr>
          <p:nvPr/>
        </p:nvSpPr>
        <p:spPr>
          <a:xfrm>
            <a:off x="838200" y="3438525"/>
            <a:ext cx="9525000" cy="514350"/>
          </a:xfrm>
          <a:prstGeom prst="rect">
            <a:avLst/>
          </a:prstGeom>
          <a:solidFill>
            <a:srgbClr val="FFF9E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73104EF-A468-4479-BD6B-B02DD54F9054}"/>
              </a:ext>
            </a:extLst>
          </p:cNvPr>
          <p:cNvSpPr>
            <a:spLocks noGrp="1"/>
          </p:cNvSpPr>
          <p:nvPr/>
        </p:nvSpPr>
        <p:spPr>
          <a:xfrm>
            <a:off x="1028700" y="354330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70621"/>
          </a:bodyPr>
          <a:lstStyle/>
          <a:p>
            <a:pPr algn="ctr">
              <a:lnSpc>
                <a:spcPct val="118000"/>
              </a:lnSpc>
              <a:buNone/>
              <a:defRPr sz="1500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B5AA99E-98D7-4BD1-BFAC-F840D47C27D4}"/>
              </a:ext>
            </a:extLst>
          </p:cNvPr>
          <p:cNvSpPr>
            <a:spLocks noGrp="1"/>
          </p:cNvSpPr>
          <p:nvPr/>
        </p:nvSpPr>
        <p:spPr>
          <a:xfrm>
            <a:off x="1809750" y="352425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0710"/>
          </a:bodyPr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식재료·조리 루틴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6A58C01-0F6D-4D7D-A494-8B54E09395EC}"/>
              </a:ext>
            </a:extLst>
          </p:cNvPr>
          <p:cNvSpPr>
            <a:spLocks noGrp="1"/>
          </p:cNvSpPr>
          <p:nvPr/>
        </p:nvSpPr>
        <p:spPr>
          <a:xfrm>
            <a:off x="4610100" y="3552825"/>
            <a:ext cx="521970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8277"/>
          </a:bodyPr>
          <a:lstStyle/>
          <a:p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냉장고 유통기한, 냄새 민감 재료 메모, 광파오븐 간편 조리 모드 연결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0AED27-2B56-47C7-95FE-3956A1AC528D}"/>
              </a:ext>
            </a:extLst>
          </p:cNvPr>
          <p:cNvSpPr>
            <a:spLocks noGrp="1"/>
          </p:cNvSpPr>
          <p:nvPr/>
        </p:nvSpPr>
        <p:spPr>
          <a:xfrm>
            <a:off x="838200" y="4181475"/>
            <a:ext cx="9525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3064FE1-C8B9-4F3E-9B6A-6D6A7EC3D639}"/>
              </a:ext>
            </a:extLst>
          </p:cNvPr>
          <p:cNvSpPr>
            <a:spLocks noGrp="1"/>
          </p:cNvSpPr>
          <p:nvPr/>
        </p:nvSpPr>
        <p:spPr>
          <a:xfrm>
            <a:off x="1028700" y="428625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70621"/>
          </a:bodyPr>
          <a:lstStyle/>
          <a:p>
            <a:pPr algn="ctr">
              <a:lnSpc>
                <a:spcPct val="118000"/>
              </a:lnSpc>
              <a:buNone/>
              <a:defRPr sz="1500" b="1">
                <a:solidFill>
                  <a:srgbClr val="3B6C8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3B6C8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6E5BCF5-A428-4044-A204-C2BF8C7E3A2C}"/>
              </a:ext>
            </a:extLst>
          </p:cNvPr>
          <p:cNvSpPr>
            <a:spLocks noGrp="1"/>
          </p:cNvSpPr>
          <p:nvPr/>
        </p:nvSpPr>
        <p:spPr>
          <a:xfrm>
            <a:off x="1809750" y="426720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0710"/>
          </a:bodyPr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세탁·위생 루틴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30AACEC-8CE7-4071-98B9-86E695984E6D}"/>
              </a:ext>
            </a:extLst>
          </p:cNvPr>
          <p:cNvSpPr>
            <a:spLocks noGrp="1"/>
          </p:cNvSpPr>
          <p:nvPr/>
        </p:nvSpPr>
        <p:spPr>
          <a:xfrm>
            <a:off x="4610100" y="4295775"/>
            <a:ext cx="521970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8277"/>
          </a:bodyPr>
          <a:lstStyle/>
          <a:p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침구·속옷·수건·아기 옷 세탁 주기와 살균 코스 추천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AE51C2D-E79B-4408-B6BA-6981E2B9A8A5}"/>
              </a:ext>
            </a:extLst>
          </p:cNvPr>
          <p:cNvSpPr>
            <a:spLocks noGrp="1"/>
          </p:cNvSpPr>
          <p:nvPr/>
        </p:nvSpPr>
        <p:spPr>
          <a:xfrm>
            <a:off x="838200" y="4924425"/>
            <a:ext cx="9525000" cy="514350"/>
          </a:xfrm>
          <a:prstGeom prst="rect">
            <a:avLst/>
          </a:prstGeom>
          <a:solidFill>
            <a:srgbClr val="FFF9E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3070C39-6326-4276-9EB8-728D6A097B77}"/>
              </a:ext>
            </a:extLst>
          </p:cNvPr>
          <p:cNvSpPr>
            <a:spLocks noGrp="1"/>
          </p:cNvSpPr>
          <p:nvPr/>
        </p:nvSpPr>
        <p:spPr>
          <a:xfrm>
            <a:off x="1028700" y="5029200"/>
            <a:ext cx="51435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70621"/>
          </a:bodyPr>
          <a:lstStyle/>
          <a:p>
            <a:pPr algn="ctr">
              <a:lnSpc>
                <a:spcPct val="118000"/>
              </a:lnSpc>
              <a:buNone/>
              <a:defRPr sz="1500" b="1">
                <a:solidFill>
                  <a:srgbClr val="D4473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44731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8A9164A-0CB5-408A-A604-EB70BB4B178D}"/>
              </a:ext>
            </a:extLst>
          </p:cNvPr>
          <p:cNvSpPr>
            <a:spLocks noGrp="1"/>
          </p:cNvSpPr>
          <p:nvPr/>
        </p:nvSpPr>
        <p:spPr>
          <a:xfrm>
            <a:off x="1809750" y="5010150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0710"/>
          </a:bodyPr>
          <a:lstStyle/>
          <a:p>
            <a:pPr algn="l">
              <a:lnSpc>
                <a:spcPct val="118000"/>
              </a:lnSpc>
              <a:buNone/>
              <a:defRPr sz="15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배우자 공유 모드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2A97DCA-C56C-4172-9458-1730CE4B1332}"/>
              </a:ext>
            </a:extLst>
          </p:cNvPr>
          <p:cNvSpPr>
            <a:spLocks noGrp="1"/>
          </p:cNvSpPr>
          <p:nvPr/>
        </p:nvSpPr>
        <p:spPr>
          <a:xfrm>
            <a:off x="4610100" y="5038725"/>
            <a:ext cx="521970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8277"/>
          </a:bodyPr>
          <a:lstStyle/>
          <a:p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장보기, 물통 채우기, 병원 동행, 출산가방 준비를 가족에게 요청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D8F9830-5613-4F23-9D8A-A80C35B28D20}"/>
              </a:ext>
            </a:extLst>
          </p:cNvPr>
          <p:cNvSpPr>
            <a:spLocks noGrp="1"/>
          </p:cNvSpPr>
          <p:nvPr/>
        </p:nvSpPr>
        <p:spPr>
          <a:xfrm>
            <a:off x="838200" y="5810250"/>
            <a:ext cx="714375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084"/>
          </a:bodyPr>
          <a:lstStyle/>
          <a:p>
            <a:pPr algn="l">
              <a:lnSpc>
                <a:spcPct val="118000"/>
              </a:lnSpc>
              <a:buNone/>
              <a:defRPr sz="1275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제외 범위: 감정분석, 스트레스 수치화, 의료 진단성 혈당 판단 기능</a:t>
            </a:r>
          </a:p>
        </p:txBody>
      </p:sp>
    </p:spTree>
    <p:extLst>
      <p:ext uri="{BB962C8B-B14F-4D97-AF65-F5344CB8AC3E}">
        <p14:creationId xmlns:p14="http://schemas.microsoft.com/office/powerpoint/2010/main" val="1846103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BB8E28CE-B064-47F2-9429-7AB4B416BA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36A3D87-FFCD-44C0-9AA4-F98B9DCD604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6200" cy="209550"/>
          </a:xfrm>
          <a:prstGeom prst="rect">
            <a:avLst/>
          </a:prstGeom>
          <a:solidFill>
            <a:srgbClr val="A7193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564C450-88E6-413F-8B09-FE854A9769CA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AUTO ROUTINE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7C5D67B-BA91-48E2-909F-3473A262AD7D}"/>
              </a:ext>
            </a:extLst>
          </p:cNvPr>
          <p:cNvSpPr>
            <a:spLocks noGrp="1"/>
          </p:cNvSpPr>
          <p:nvPr/>
        </p:nvSpPr>
        <p:spPr>
          <a:xfrm>
            <a:off x="609600" y="857250"/>
            <a:ext cx="72390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811"/>
          </a:bodyPr>
          <a:lstStyle/>
          <a:p>
            <a:pPr algn="l">
              <a:lnSpc>
                <a:spcPct val="110000"/>
              </a:lnSpc>
              <a:buNone/>
              <a:def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발표에서 가장 강한 장면은 ‘체크 한 번으로 집이 반응하는’ 순간이다.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F1547C-9CF3-4691-AAC7-E6439219268F}"/>
              </a:ext>
            </a:extLst>
          </p:cNvPr>
          <p:cNvSpPr>
            <a:spLocks noGrp="1"/>
          </p:cNvSpPr>
          <p:nvPr/>
        </p:nvSpPr>
        <p:spPr>
          <a:xfrm>
            <a:off x="609600" y="6329363"/>
            <a:ext cx="10439400" cy="9525"/>
          </a:xfrm>
          <a:prstGeom prst="rect">
            <a:avLst/>
          </a:prstGeom>
          <a:solidFill>
            <a:srgbClr val="D9D0C0"/>
          </a:solidFill>
          <a:ln w="0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EAC20E4-7C77-4A26-AB8F-AA9E1A7E150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ThinQ Care Routine | DX Project Draft  |  07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7E67B6C-2B11-42D9-A810-91F25DAB352D}"/>
              </a:ext>
            </a:extLst>
          </p:cNvPr>
          <p:cNvSpPr>
            <a:spLocks noGrp="1"/>
          </p:cNvSpPr>
          <p:nvPr/>
        </p:nvSpPr>
        <p:spPr>
          <a:xfrm>
            <a:off x="1352550" y="2457450"/>
            <a:ext cx="914400" cy="914400"/>
          </a:xfrm>
          <a:prstGeom prst="ellipse">
            <a:avLst/>
          </a:prstGeom>
          <a:solidFill>
            <a:srgbClr val="A7193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D759F1-F7DC-465E-BAD6-C8902D2F6467}"/>
              </a:ext>
            </a:extLst>
          </p:cNvPr>
          <p:cNvSpPr>
            <a:spLocks noGrp="1"/>
          </p:cNvSpPr>
          <p:nvPr/>
        </p:nvSpPr>
        <p:spPr>
          <a:xfrm>
            <a:off x="1352550" y="2705100"/>
            <a:ext cx="914400" cy="3238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83462"/>
          </a:bodyPr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4C82547-160C-4D5C-8327-CB1EA9175F7F}"/>
              </a:ext>
            </a:extLst>
          </p:cNvPr>
          <p:cNvSpPr>
            <a:spLocks noGrp="1"/>
          </p:cNvSpPr>
          <p:nvPr/>
        </p:nvSpPr>
        <p:spPr>
          <a:xfrm>
            <a:off x="895350" y="371475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9833"/>
          </a:bodyPr>
          <a:lstStyle/>
          <a:p>
            <a:pPr algn="ctr">
              <a:lnSpc>
                <a:spcPct val="118000"/>
              </a:lnSpc>
              <a:buNone/>
              <a:def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오늘 입덧 냄새 체크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593A6F-F1CB-4AA7-9894-894BF09B3798}"/>
              </a:ext>
            </a:extLst>
          </p:cNvPr>
          <p:cNvSpPr>
            <a:spLocks noGrp="1"/>
          </p:cNvSpPr>
          <p:nvPr/>
        </p:nvSpPr>
        <p:spPr>
          <a:xfrm>
            <a:off x="895350" y="411480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3891"/>
          </a:bodyPr>
          <a:lstStyle/>
          <a:p>
            <a:pPr algn="ctr">
              <a:lnSpc>
                <a:spcPct val="120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사용자가 다이어리에 상황을 선택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2BEC275-BC1B-4CD0-AD34-17C1C9381B07}"/>
              </a:ext>
            </a:extLst>
          </p:cNvPr>
          <p:cNvSpPr>
            <a:spLocks noGrp="1"/>
          </p:cNvSpPr>
          <p:nvPr/>
        </p:nvSpPr>
        <p:spPr>
          <a:xfrm>
            <a:off x="2495550" y="2905125"/>
            <a:ext cx="971550" cy="19050"/>
          </a:xfrm>
          <a:prstGeom prst="rect">
            <a:avLst/>
          </a:prstGeom>
          <a:solidFill>
            <a:srgbClr val="D9D0C0"/>
          </a:solidFill>
          <a:ln w="0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88AE922-C08B-4DC8-B590-4F8066E8D49F}"/>
              </a:ext>
            </a:extLst>
          </p:cNvPr>
          <p:cNvSpPr>
            <a:spLocks noGrp="1"/>
          </p:cNvSpPr>
          <p:nvPr/>
        </p:nvSpPr>
        <p:spPr>
          <a:xfrm>
            <a:off x="3924300" y="2457450"/>
            <a:ext cx="914400" cy="914400"/>
          </a:xfrm>
          <a:prstGeom prst="ellipse">
            <a:avLst/>
          </a:prstGeom>
          <a:solidFill>
            <a:srgbClr val="2F6F5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D1942FF-B2FE-48F5-8848-1EE39653CE9E}"/>
              </a:ext>
            </a:extLst>
          </p:cNvPr>
          <p:cNvSpPr>
            <a:spLocks noGrp="1"/>
          </p:cNvSpPr>
          <p:nvPr/>
        </p:nvSpPr>
        <p:spPr>
          <a:xfrm>
            <a:off x="3924300" y="2705100"/>
            <a:ext cx="914400" cy="3238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83462"/>
          </a:bodyPr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52701B5-DBC8-4267-A73C-F067F263A41E}"/>
              </a:ext>
            </a:extLst>
          </p:cNvPr>
          <p:cNvSpPr>
            <a:spLocks noGrp="1"/>
          </p:cNvSpPr>
          <p:nvPr/>
        </p:nvSpPr>
        <p:spPr>
          <a:xfrm>
            <a:off x="3467100" y="371475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7672"/>
          </a:bodyPr>
          <a:lstStyle/>
          <a:p>
            <a:pPr algn="ctr">
              <a:lnSpc>
                <a:spcPct val="118000"/>
              </a:lnSpc>
              <a:buNone/>
              <a:def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주방·냉장고 냄새 이슈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195104F-5E56-4B51-B0D7-312AFE0FB8A4}"/>
              </a:ext>
            </a:extLst>
          </p:cNvPr>
          <p:cNvSpPr>
            <a:spLocks noGrp="1"/>
          </p:cNvSpPr>
          <p:nvPr/>
        </p:nvSpPr>
        <p:spPr>
          <a:xfrm>
            <a:off x="3467100" y="411480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91641"/>
          </a:bodyPr>
          <a:lstStyle/>
          <a:p>
            <a:pPr algn="ctr">
              <a:lnSpc>
                <a:spcPct val="120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날씨·공기질·기기 상태 결합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6BB7516-346A-4A20-BB31-04BE27580DC5}"/>
              </a:ext>
            </a:extLst>
          </p:cNvPr>
          <p:cNvSpPr>
            <a:spLocks noGrp="1"/>
          </p:cNvSpPr>
          <p:nvPr/>
        </p:nvSpPr>
        <p:spPr>
          <a:xfrm>
            <a:off x="5067300" y="2905125"/>
            <a:ext cx="971550" cy="19050"/>
          </a:xfrm>
          <a:prstGeom prst="rect">
            <a:avLst/>
          </a:prstGeom>
          <a:solidFill>
            <a:srgbClr val="D9D0C0"/>
          </a:solidFill>
          <a:ln w="0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6113D25-198B-4DA1-A55A-3CFCFBC4E803}"/>
              </a:ext>
            </a:extLst>
          </p:cNvPr>
          <p:cNvSpPr>
            <a:spLocks noGrp="1"/>
          </p:cNvSpPr>
          <p:nvPr/>
        </p:nvSpPr>
        <p:spPr>
          <a:xfrm>
            <a:off x="6496050" y="2457450"/>
            <a:ext cx="914400" cy="914400"/>
          </a:xfrm>
          <a:prstGeom prst="ellipse">
            <a:avLst/>
          </a:prstGeom>
          <a:solidFill>
            <a:srgbClr val="C8952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493DA56-06C6-43CC-9EFA-7ABA088A6471}"/>
              </a:ext>
            </a:extLst>
          </p:cNvPr>
          <p:cNvSpPr>
            <a:spLocks noGrp="1"/>
          </p:cNvSpPr>
          <p:nvPr/>
        </p:nvSpPr>
        <p:spPr>
          <a:xfrm>
            <a:off x="6496050" y="2705100"/>
            <a:ext cx="914400" cy="3238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83462"/>
          </a:bodyPr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F354C57-1A77-49B0-A47C-FAC0958D216E}"/>
              </a:ext>
            </a:extLst>
          </p:cNvPr>
          <p:cNvSpPr>
            <a:spLocks noGrp="1"/>
          </p:cNvSpPr>
          <p:nvPr/>
        </p:nvSpPr>
        <p:spPr>
          <a:xfrm>
            <a:off x="6038850" y="371475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9772"/>
          </a:bodyPr>
          <a:lstStyle/>
          <a:p>
            <a:pPr algn="ctr">
              <a:lnSpc>
                <a:spcPct val="118000"/>
              </a:lnSpc>
              <a:buNone/>
              <a:def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공청기 탈취모드 제안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0A59320-63D2-4DC2-9EBF-1C1924371384}"/>
              </a:ext>
            </a:extLst>
          </p:cNvPr>
          <p:cNvSpPr>
            <a:spLocks noGrp="1"/>
          </p:cNvSpPr>
          <p:nvPr/>
        </p:nvSpPr>
        <p:spPr>
          <a:xfrm>
            <a:off x="6038850" y="411480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0841"/>
          </a:bodyPr>
          <a:lstStyle/>
          <a:p>
            <a:pPr algn="ctr">
              <a:lnSpc>
                <a:spcPct val="120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침실 공기 루틴 또는 환기 안내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2DDD4BB-4C97-4A52-A367-F92456C4C948}"/>
              </a:ext>
            </a:extLst>
          </p:cNvPr>
          <p:cNvSpPr>
            <a:spLocks noGrp="1"/>
          </p:cNvSpPr>
          <p:nvPr/>
        </p:nvSpPr>
        <p:spPr>
          <a:xfrm>
            <a:off x="7639050" y="2905125"/>
            <a:ext cx="971550" cy="19050"/>
          </a:xfrm>
          <a:prstGeom prst="rect">
            <a:avLst/>
          </a:prstGeom>
          <a:solidFill>
            <a:srgbClr val="D9D0C0"/>
          </a:solidFill>
          <a:ln w="0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6A3DC4D-AB7D-44D0-B7D3-30212418EAEE}"/>
              </a:ext>
            </a:extLst>
          </p:cNvPr>
          <p:cNvSpPr>
            <a:spLocks noGrp="1"/>
          </p:cNvSpPr>
          <p:nvPr/>
        </p:nvSpPr>
        <p:spPr>
          <a:xfrm>
            <a:off x="9067800" y="2457450"/>
            <a:ext cx="914400" cy="914400"/>
          </a:xfrm>
          <a:prstGeom prst="ellipse">
            <a:avLst/>
          </a:prstGeom>
          <a:solidFill>
            <a:srgbClr val="3B6C8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889DAA8-D25F-4AF4-811B-CE661FEF66E4}"/>
              </a:ext>
            </a:extLst>
          </p:cNvPr>
          <p:cNvSpPr>
            <a:spLocks noGrp="1"/>
          </p:cNvSpPr>
          <p:nvPr/>
        </p:nvSpPr>
        <p:spPr>
          <a:xfrm>
            <a:off x="9067800" y="2705100"/>
            <a:ext cx="914400" cy="3238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83462"/>
          </a:bodyPr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공유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C17D753-870A-4BDF-92E6-FF28EA9BC119}"/>
              </a:ext>
            </a:extLst>
          </p:cNvPr>
          <p:cNvSpPr>
            <a:spLocks noGrp="1"/>
          </p:cNvSpPr>
          <p:nvPr/>
        </p:nvSpPr>
        <p:spPr>
          <a:xfrm>
            <a:off x="8610600" y="371475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9772"/>
          </a:bodyPr>
          <a:lstStyle/>
          <a:p>
            <a:pPr algn="ctr">
              <a:lnSpc>
                <a:spcPct val="118000"/>
              </a:lnSpc>
              <a:buNone/>
              <a:def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가족에게 장보기 요청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8DC9EB0-E676-4ECC-BE4C-578CC3E5B14D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1809750" cy="400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3785"/>
          </a:bodyPr>
          <a:lstStyle/>
          <a:p>
            <a:pPr algn="ctr">
              <a:lnSpc>
                <a:spcPct val="120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냄새 민감 식재료 대체 리스트 전달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21AB29E-7C78-4105-9874-12C7B15337EA}"/>
              </a:ext>
            </a:extLst>
          </p:cNvPr>
          <p:cNvSpPr>
            <a:spLocks noGrp="1"/>
          </p:cNvSpPr>
          <p:nvPr/>
        </p:nvSpPr>
        <p:spPr>
          <a:xfrm>
            <a:off x="1562100" y="5219700"/>
            <a:ext cx="7810500" cy="514350"/>
          </a:xfrm>
          <a:prstGeom prst="rect">
            <a:avLst/>
          </a:prstGeom>
          <a:solidFill>
            <a:srgbClr val="FFF9E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B7380D-CE7D-42A8-81C2-14555780ABE0}"/>
              </a:ext>
            </a:extLst>
          </p:cNvPr>
          <p:cNvSpPr>
            <a:spLocks noGrp="1"/>
          </p:cNvSpPr>
          <p:nvPr/>
        </p:nvSpPr>
        <p:spPr>
          <a:xfrm>
            <a:off x="1485900" y="5334000"/>
            <a:ext cx="796290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084"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대표 시나리오: [오늘 입덧 냄새 심함] → 공청기 탈취모드 → 냉장고 냄새관리 → 환기 루틴 → 가족 장보기 공유</a:t>
            </a:r>
          </a:p>
        </p:txBody>
      </p:sp>
    </p:spTree>
    <p:extLst>
      <p:ext uri="{BB962C8B-B14F-4D97-AF65-F5344CB8AC3E}">
        <p14:creationId xmlns:p14="http://schemas.microsoft.com/office/powerpoint/2010/main" val="156108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C3BF404-E446-4F3B-913D-E7D7A9C977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DA56D14-FF5E-493F-A4C2-4E2C40682CB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6200" cy="209550"/>
          </a:xfrm>
          <a:prstGeom prst="rect">
            <a:avLst/>
          </a:prstGeom>
          <a:solidFill>
            <a:srgbClr val="A7193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B2A3C9D-5CB9-48CB-8208-7CF007E0A8E9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DX ARCHITECTURE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BDAE27B-9AC7-4C25-8988-BD82853ABD77}"/>
              </a:ext>
            </a:extLst>
          </p:cNvPr>
          <p:cNvSpPr>
            <a:spLocks noGrp="1"/>
          </p:cNvSpPr>
          <p:nvPr/>
        </p:nvSpPr>
        <p:spPr>
          <a:xfrm>
            <a:off x="609600" y="857250"/>
            <a:ext cx="72390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811"/>
          </a:bodyPr>
          <a:lstStyle/>
          <a:p>
            <a:pPr algn="l">
              <a:lnSpc>
                <a:spcPct val="110000"/>
              </a:lnSpc>
              <a:buNone/>
              <a:def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서비스는 데이터 수집, 추천 로직, ThinQ 실행, 성과 추적의 닫힌 루프로 설계한다.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183D4FF-5944-4AD6-80FA-FBE90EBADA31}"/>
              </a:ext>
            </a:extLst>
          </p:cNvPr>
          <p:cNvSpPr>
            <a:spLocks noGrp="1"/>
          </p:cNvSpPr>
          <p:nvPr/>
        </p:nvSpPr>
        <p:spPr>
          <a:xfrm>
            <a:off x="609600" y="6329363"/>
            <a:ext cx="10439400" cy="9525"/>
          </a:xfrm>
          <a:prstGeom prst="rect">
            <a:avLst/>
          </a:prstGeom>
          <a:solidFill>
            <a:srgbClr val="D9D0C0"/>
          </a:solidFill>
          <a:ln w="0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684D210-0AA8-40DB-A943-A8E8EE0C750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ThinQ Care Routine | DX Project Draft  |  08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8981F32-D030-402D-9FAD-EC989631BD64}"/>
              </a:ext>
            </a:extLst>
          </p:cNvPr>
          <p:cNvSpPr>
            <a:spLocks noGrp="1"/>
          </p:cNvSpPr>
          <p:nvPr/>
        </p:nvSpPr>
        <p:spPr>
          <a:xfrm>
            <a:off x="1238250" y="1809750"/>
            <a:ext cx="8667750" cy="457200"/>
          </a:xfrm>
          <a:prstGeom prst="rect">
            <a:avLst/>
          </a:prstGeom>
          <a:solidFill>
            <a:srgbClr val="FFF9E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7455A1B-A2B5-4C1A-8D8E-5E827DDC8B34}"/>
              </a:ext>
            </a:extLst>
          </p:cNvPr>
          <p:cNvSpPr>
            <a:spLocks noGrp="1"/>
          </p:cNvSpPr>
          <p:nvPr/>
        </p:nvSpPr>
        <p:spPr>
          <a:xfrm>
            <a:off x="1466850" y="1914525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62775"/>
          </a:bodyPr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Data Layer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FC7C57-0204-4DF5-A7DF-43972503AF78}"/>
              </a:ext>
            </a:extLst>
          </p:cNvPr>
          <p:cNvSpPr>
            <a:spLocks noGrp="1"/>
          </p:cNvSpPr>
          <p:nvPr/>
        </p:nvSpPr>
        <p:spPr>
          <a:xfrm>
            <a:off x="3333750" y="1924050"/>
            <a:ext cx="5810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0621"/>
          </a:bodyPr>
          <a:lstStyle/>
          <a:p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소셜데이터 / VOC / 앱 리뷰 / 가전 상태 / 날씨·미세먼지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B0D0452-1CF2-4FCD-98D1-4AA3F33A6FF8}"/>
              </a:ext>
            </a:extLst>
          </p:cNvPr>
          <p:cNvSpPr>
            <a:spLocks noGrp="1"/>
          </p:cNvSpPr>
          <p:nvPr/>
        </p:nvSpPr>
        <p:spPr>
          <a:xfrm rot="5400000">
            <a:off x="5562600" y="2257425"/>
            <a:ext cx="266700" cy="19050"/>
          </a:xfrm>
          <a:prstGeom prst="rect">
            <a:avLst/>
          </a:prstGeom>
          <a:solidFill>
            <a:srgbClr val="D44731"/>
          </a:solidFill>
          <a:ln w="0">
            <a:solidFill>
              <a:srgbClr val="D4473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B2FC2C3-6C3A-42FD-9133-36A82D0F7FC2}"/>
              </a:ext>
            </a:extLst>
          </p:cNvPr>
          <p:cNvSpPr>
            <a:spLocks noGrp="1"/>
          </p:cNvSpPr>
          <p:nvPr/>
        </p:nvSpPr>
        <p:spPr>
          <a:xfrm>
            <a:off x="1238250" y="2533650"/>
            <a:ext cx="8667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5BE6BAA-F450-42ED-AA69-15724259DF84}"/>
              </a:ext>
            </a:extLst>
          </p:cNvPr>
          <p:cNvSpPr>
            <a:spLocks noGrp="1"/>
          </p:cNvSpPr>
          <p:nvPr/>
        </p:nvSpPr>
        <p:spPr>
          <a:xfrm>
            <a:off x="1466850" y="2638425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62775"/>
          </a:bodyPr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rPr>
              <a:t>Insight Layer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6136CDC-C47C-4B95-913F-0C4D728C44F4}"/>
              </a:ext>
            </a:extLst>
          </p:cNvPr>
          <p:cNvSpPr>
            <a:spLocks noGrp="1"/>
          </p:cNvSpPr>
          <p:nvPr/>
        </p:nvSpPr>
        <p:spPr>
          <a:xfrm>
            <a:off x="3333750" y="2647950"/>
            <a:ext cx="5810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0621"/>
          </a:bodyPr>
          <a:lstStyle/>
          <a:p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토픽 모델링 / Pain Point 매핑 / 임신 주차별 루틴 태깅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99E9B7-2269-448B-A1C4-68C564576EF0}"/>
              </a:ext>
            </a:extLst>
          </p:cNvPr>
          <p:cNvSpPr>
            <a:spLocks noGrp="1"/>
          </p:cNvSpPr>
          <p:nvPr/>
        </p:nvSpPr>
        <p:spPr>
          <a:xfrm rot="5400000">
            <a:off x="5562600" y="2981325"/>
            <a:ext cx="266700" cy="19050"/>
          </a:xfrm>
          <a:prstGeom prst="rect">
            <a:avLst/>
          </a:prstGeom>
          <a:solidFill>
            <a:srgbClr val="D44731"/>
          </a:solidFill>
          <a:ln w="0">
            <a:solidFill>
              <a:srgbClr val="D4473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5F4FF41-B48C-4675-A056-AA615AC80465}"/>
              </a:ext>
            </a:extLst>
          </p:cNvPr>
          <p:cNvSpPr>
            <a:spLocks noGrp="1"/>
          </p:cNvSpPr>
          <p:nvPr/>
        </p:nvSpPr>
        <p:spPr>
          <a:xfrm>
            <a:off x="1238250" y="3257550"/>
            <a:ext cx="8667750" cy="457200"/>
          </a:xfrm>
          <a:prstGeom prst="rect">
            <a:avLst/>
          </a:prstGeom>
          <a:solidFill>
            <a:srgbClr val="FFF9E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6992300-8A7C-41A3-8590-1F3AA0F59CCF}"/>
              </a:ext>
            </a:extLst>
          </p:cNvPr>
          <p:cNvSpPr>
            <a:spLocks noGrp="1"/>
          </p:cNvSpPr>
          <p:nvPr/>
        </p:nvSpPr>
        <p:spPr>
          <a:xfrm>
            <a:off x="1466850" y="3362325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62775"/>
          </a:bodyPr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C8952E"/>
                </a:solidFill>
                <a:latin typeface="Malgun Gothic"/>
                <a:ea typeface="Malgun Gothic"/>
                <a:cs typeface="Malgun Gothic"/>
              </a:rPr>
              <a:t>Service Layer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9CFBE6-2447-4B86-AEDD-37185AFA3100}"/>
              </a:ext>
            </a:extLst>
          </p:cNvPr>
          <p:cNvSpPr>
            <a:spLocks noGrp="1"/>
          </p:cNvSpPr>
          <p:nvPr/>
        </p:nvSpPr>
        <p:spPr>
          <a:xfrm>
            <a:off x="3333750" y="3371850"/>
            <a:ext cx="5810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0621"/>
          </a:bodyPr>
          <a:lstStyle/>
          <a:p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생활 기록 / 상황 트리거 / 자동 루틴 / 가족 체크리스트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B9C1C36-8AD9-4867-8B80-D7C0A0F38589}"/>
              </a:ext>
            </a:extLst>
          </p:cNvPr>
          <p:cNvSpPr>
            <a:spLocks noGrp="1"/>
          </p:cNvSpPr>
          <p:nvPr/>
        </p:nvSpPr>
        <p:spPr>
          <a:xfrm rot="5400000">
            <a:off x="5562600" y="3705225"/>
            <a:ext cx="266700" cy="19050"/>
          </a:xfrm>
          <a:prstGeom prst="rect">
            <a:avLst/>
          </a:prstGeom>
          <a:solidFill>
            <a:srgbClr val="D44731"/>
          </a:solidFill>
          <a:ln w="0">
            <a:solidFill>
              <a:srgbClr val="D4473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56F45EE-982F-4D0F-B116-B31DC228AA4F}"/>
              </a:ext>
            </a:extLst>
          </p:cNvPr>
          <p:cNvSpPr>
            <a:spLocks noGrp="1"/>
          </p:cNvSpPr>
          <p:nvPr/>
        </p:nvSpPr>
        <p:spPr>
          <a:xfrm>
            <a:off x="1238250" y="3981450"/>
            <a:ext cx="8667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F6380CA-5005-4682-B59A-E8EC6DEE2CFF}"/>
              </a:ext>
            </a:extLst>
          </p:cNvPr>
          <p:cNvSpPr>
            <a:spLocks noGrp="1"/>
          </p:cNvSpPr>
          <p:nvPr/>
        </p:nvSpPr>
        <p:spPr>
          <a:xfrm>
            <a:off x="1466850" y="4086225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62775"/>
          </a:bodyPr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3B6C8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B6C8E"/>
                </a:solidFill>
                <a:latin typeface="Malgun Gothic"/>
                <a:ea typeface="Malgun Gothic"/>
                <a:cs typeface="Malgun Gothic"/>
              </a:rPr>
              <a:t>Execution Layer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3100004-B926-492B-9371-F3FC8A405FC6}"/>
              </a:ext>
            </a:extLst>
          </p:cNvPr>
          <p:cNvSpPr>
            <a:spLocks noGrp="1"/>
          </p:cNvSpPr>
          <p:nvPr/>
        </p:nvSpPr>
        <p:spPr>
          <a:xfrm>
            <a:off x="3333750" y="4095750"/>
            <a:ext cx="5810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0621"/>
          </a:bodyPr>
          <a:lstStyle/>
          <a:p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정수기 / 냉장고 / 세탁기·건조기 / 공기청정기 / 광파오븐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CAAF564-2448-4154-835E-EA7C34D236FD}"/>
              </a:ext>
            </a:extLst>
          </p:cNvPr>
          <p:cNvSpPr>
            <a:spLocks noGrp="1"/>
          </p:cNvSpPr>
          <p:nvPr/>
        </p:nvSpPr>
        <p:spPr>
          <a:xfrm rot="5400000">
            <a:off x="5562600" y="4429125"/>
            <a:ext cx="266700" cy="19050"/>
          </a:xfrm>
          <a:prstGeom prst="rect">
            <a:avLst/>
          </a:prstGeom>
          <a:solidFill>
            <a:srgbClr val="D44731"/>
          </a:solidFill>
          <a:ln w="0">
            <a:solidFill>
              <a:srgbClr val="D4473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6DF6FB5-FF61-479F-9500-2A9AC66466C0}"/>
              </a:ext>
            </a:extLst>
          </p:cNvPr>
          <p:cNvSpPr>
            <a:spLocks noGrp="1"/>
          </p:cNvSpPr>
          <p:nvPr/>
        </p:nvSpPr>
        <p:spPr>
          <a:xfrm>
            <a:off x="1238250" y="4705350"/>
            <a:ext cx="8667750" cy="457200"/>
          </a:xfrm>
          <a:prstGeom prst="rect">
            <a:avLst/>
          </a:prstGeom>
          <a:solidFill>
            <a:srgbClr val="FFF9E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03091D8-B186-45E0-9013-1EBC24A30BCA}"/>
              </a:ext>
            </a:extLst>
          </p:cNvPr>
          <p:cNvSpPr>
            <a:spLocks noGrp="1"/>
          </p:cNvSpPr>
          <p:nvPr/>
        </p:nvSpPr>
        <p:spPr>
          <a:xfrm>
            <a:off x="1466850" y="4810125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62775"/>
          </a:bodyPr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D4473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44731"/>
                </a:solidFill>
                <a:latin typeface="Malgun Gothic"/>
                <a:ea typeface="Malgun Gothic"/>
                <a:cs typeface="Malgun Gothic"/>
              </a:rPr>
              <a:t>Tracker Layer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73A3B35-B0D7-4F03-B5E8-D19168DB79A2}"/>
              </a:ext>
            </a:extLst>
          </p:cNvPr>
          <p:cNvSpPr>
            <a:spLocks noGrp="1"/>
          </p:cNvSpPr>
          <p:nvPr/>
        </p:nvSpPr>
        <p:spPr>
          <a:xfrm>
            <a:off x="3333750" y="4819650"/>
            <a:ext cx="5810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0621"/>
          </a:bodyPr>
          <a:lstStyle/>
          <a:p>
            <a:pPr algn="l">
              <a:lnSpc>
                <a:spcPct val="118000"/>
              </a:lnSpc>
              <a:buNone/>
              <a:def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작성률 / 실행률 / 재방문율 / 연계 구매 전환 / 문의 감소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7687775-5E6C-4677-8E3A-1AA76FC00428}"/>
              </a:ext>
            </a:extLst>
          </p:cNvPr>
          <p:cNvSpPr>
            <a:spLocks noGrp="1"/>
          </p:cNvSpPr>
          <p:nvPr/>
        </p:nvSpPr>
        <p:spPr>
          <a:xfrm>
            <a:off x="1524000" y="5734050"/>
            <a:ext cx="8096250" cy="3238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95162"/>
          </a:bodyPr>
          <a:lstStyle/>
          <a:p>
            <a:pPr algn="ctr">
              <a:lnSpc>
                <a:spcPct val="118000"/>
              </a:lnSpc>
              <a:buNone/>
              <a:defRPr sz="1275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개인 건강 데이터를 진단하지 않고, 사용자가 직접 입력한 생활 기록과 기기 상태를 바탕으로 생활 루틴을 추천한다.</a:t>
            </a:r>
          </a:p>
        </p:txBody>
      </p:sp>
    </p:spTree>
    <p:extLst>
      <p:ext uri="{BB962C8B-B14F-4D97-AF65-F5344CB8AC3E}">
        <p14:creationId xmlns:p14="http://schemas.microsoft.com/office/powerpoint/2010/main" val="1396377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7E5E47D2-36F2-467F-9D73-2263873AAD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73294F9-970D-4ECC-B633-6FBBB3E1EFE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6200" cy="209550"/>
          </a:xfrm>
          <a:prstGeom prst="rect">
            <a:avLst/>
          </a:prstGeom>
          <a:solidFill>
            <a:srgbClr val="A7193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E6DB7AD-3F37-400D-9F38-8ADF7672724E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8434"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PERFORMANCE TRACKERS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2B1A13-8BCA-4371-A285-116C034BEC20}"/>
              </a:ext>
            </a:extLst>
          </p:cNvPr>
          <p:cNvSpPr>
            <a:spLocks noGrp="1"/>
          </p:cNvSpPr>
          <p:nvPr/>
        </p:nvSpPr>
        <p:spPr>
          <a:xfrm>
            <a:off x="609600" y="857250"/>
            <a:ext cx="72390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811"/>
          </a:bodyPr>
          <a:lstStyle/>
          <a:p>
            <a:pPr algn="l">
              <a:lnSpc>
                <a:spcPct val="110000"/>
              </a:lnSpc>
              <a:buNone/>
              <a:def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성과는 감정 지표가 아니라 사용 행동과 연결 가전 가치로 검증한다.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10903E-CB60-4275-9B88-157FC962FBDC}"/>
              </a:ext>
            </a:extLst>
          </p:cNvPr>
          <p:cNvSpPr>
            <a:spLocks noGrp="1"/>
          </p:cNvSpPr>
          <p:nvPr/>
        </p:nvSpPr>
        <p:spPr>
          <a:xfrm>
            <a:off x="609600" y="6329363"/>
            <a:ext cx="10439400" cy="9525"/>
          </a:xfrm>
          <a:prstGeom prst="rect">
            <a:avLst/>
          </a:prstGeom>
          <a:solidFill>
            <a:srgbClr val="D9D0C0"/>
          </a:solidFill>
          <a:ln w="0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41E445-434A-4651-B983-79CD047F1D9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ThinQ Care Routine | DX Project Draft  |  09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66134BB-9CA0-4F0B-8CA3-40AA80D4FD2B}"/>
              </a:ext>
            </a:extLst>
          </p:cNvPr>
          <p:cNvSpPr>
            <a:spLocks noGrp="1"/>
          </p:cNvSpPr>
          <p:nvPr/>
        </p:nvSpPr>
        <p:spPr>
          <a:xfrm>
            <a:off x="895350" y="211455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084"/>
          </a:bodyPr>
          <a:lstStyle/>
          <a:p>
            <a:pPr algn="l">
              <a:lnSpc>
                <a:spcPct val="118000"/>
              </a:lnSpc>
              <a:buNone/>
              <a:def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자동 루틴 설정률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5CFD01-F647-497E-99CF-DFDAE2C27C0E}"/>
              </a:ext>
            </a:extLst>
          </p:cNvPr>
          <p:cNvSpPr>
            <a:spLocks noGrp="1"/>
          </p:cNvSpPr>
          <p:nvPr/>
        </p:nvSpPr>
        <p:spPr>
          <a:xfrm>
            <a:off x="3333750" y="2171700"/>
            <a:ext cx="4000500" cy="171450"/>
          </a:xfrm>
          <a:prstGeom prst="rect">
            <a:avLst/>
          </a:prstGeom>
          <a:solidFill>
            <a:srgbClr val="E2D8C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E20CAE7-3760-410C-A3E8-B99B7EEFF135}"/>
              </a:ext>
            </a:extLst>
          </p:cNvPr>
          <p:cNvSpPr>
            <a:spLocks noGrp="1"/>
          </p:cNvSpPr>
          <p:nvPr/>
        </p:nvSpPr>
        <p:spPr>
          <a:xfrm>
            <a:off x="3333750" y="2171700"/>
            <a:ext cx="3120390" cy="171450"/>
          </a:xfrm>
          <a:prstGeom prst="rect">
            <a:avLst/>
          </a:prstGeom>
          <a:solidFill>
            <a:srgbClr val="A7193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A84913A-7035-4D37-9DA9-B20B16D8118C}"/>
              </a:ext>
            </a:extLst>
          </p:cNvPr>
          <p:cNvSpPr>
            <a:spLocks noGrp="1"/>
          </p:cNvSpPr>
          <p:nvPr/>
        </p:nvSpPr>
        <p:spPr>
          <a:xfrm>
            <a:off x="7524750" y="209550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8468"/>
          </a:bodyPr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78%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EC3CA8D-2A8A-40EF-B706-558050592440}"/>
              </a:ext>
            </a:extLst>
          </p:cNvPr>
          <p:cNvSpPr>
            <a:spLocks noGrp="1"/>
          </p:cNvSpPr>
          <p:nvPr/>
        </p:nvSpPr>
        <p:spPr>
          <a:xfrm>
            <a:off x="895350" y="281940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084"/>
          </a:bodyPr>
          <a:lstStyle/>
          <a:p>
            <a:pPr algn="l">
              <a:lnSpc>
                <a:spcPct val="118000"/>
              </a:lnSpc>
              <a:buNone/>
              <a:def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홈케어 루틴 실행률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56DCE1E-8703-410C-8EFF-CFC30A07F169}"/>
              </a:ext>
            </a:extLst>
          </p:cNvPr>
          <p:cNvSpPr>
            <a:spLocks noGrp="1"/>
          </p:cNvSpPr>
          <p:nvPr/>
        </p:nvSpPr>
        <p:spPr>
          <a:xfrm>
            <a:off x="3333750" y="2876550"/>
            <a:ext cx="4000500" cy="171450"/>
          </a:xfrm>
          <a:prstGeom prst="rect">
            <a:avLst/>
          </a:prstGeom>
          <a:solidFill>
            <a:srgbClr val="E2D8C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6D63D81-98F5-4F48-B1CC-90BB6BD36366}"/>
              </a:ext>
            </a:extLst>
          </p:cNvPr>
          <p:cNvSpPr>
            <a:spLocks noGrp="1"/>
          </p:cNvSpPr>
          <p:nvPr/>
        </p:nvSpPr>
        <p:spPr>
          <a:xfrm>
            <a:off x="3333750" y="2876550"/>
            <a:ext cx="2560320" cy="171450"/>
          </a:xfrm>
          <a:prstGeom prst="rect">
            <a:avLst/>
          </a:prstGeom>
          <a:solidFill>
            <a:srgbClr val="2F6F5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69E3C9-160E-494A-A913-F6915D60B13B}"/>
              </a:ext>
            </a:extLst>
          </p:cNvPr>
          <p:cNvSpPr>
            <a:spLocks noGrp="1"/>
          </p:cNvSpPr>
          <p:nvPr/>
        </p:nvSpPr>
        <p:spPr>
          <a:xfrm>
            <a:off x="7524750" y="28003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8468"/>
          </a:bodyPr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64%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F05D578-2087-449D-9A2C-1A89AB18B915}"/>
              </a:ext>
            </a:extLst>
          </p:cNvPr>
          <p:cNvSpPr>
            <a:spLocks noGrp="1"/>
          </p:cNvSpPr>
          <p:nvPr/>
        </p:nvSpPr>
        <p:spPr>
          <a:xfrm>
            <a:off x="895350" y="352425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084"/>
          </a:bodyPr>
          <a:lstStyle/>
          <a:p>
            <a:pPr algn="l">
              <a:lnSpc>
                <a:spcPct val="118000"/>
              </a:lnSpc>
              <a:buNone/>
              <a:def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가족 체크리스트 완료율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9718B54-58D3-4FC4-AB56-F4BBE06C7D35}"/>
              </a:ext>
            </a:extLst>
          </p:cNvPr>
          <p:cNvSpPr>
            <a:spLocks noGrp="1"/>
          </p:cNvSpPr>
          <p:nvPr/>
        </p:nvSpPr>
        <p:spPr>
          <a:xfrm>
            <a:off x="3333750" y="3581400"/>
            <a:ext cx="4000500" cy="171450"/>
          </a:xfrm>
          <a:prstGeom prst="rect">
            <a:avLst/>
          </a:prstGeom>
          <a:solidFill>
            <a:srgbClr val="E2D8C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A5B3EEF-1CC2-46FD-9AE6-BAFE0F1B3507}"/>
              </a:ext>
            </a:extLst>
          </p:cNvPr>
          <p:cNvSpPr>
            <a:spLocks noGrp="1"/>
          </p:cNvSpPr>
          <p:nvPr/>
        </p:nvSpPr>
        <p:spPr>
          <a:xfrm>
            <a:off x="3333750" y="3581400"/>
            <a:ext cx="2320290" cy="171450"/>
          </a:xfrm>
          <a:prstGeom prst="rect">
            <a:avLst/>
          </a:prstGeom>
          <a:solidFill>
            <a:srgbClr val="C8952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07F2B22-F7A8-45BF-975E-827BA793E562}"/>
              </a:ext>
            </a:extLst>
          </p:cNvPr>
          <p:cNvSpPr>
            <a:spLocks noGrp="1"/>
          </p:cNvSpPr>
          <p:nvPr/>
        </p:nvSpPr>
        <p:spPr>
          <a:xfrm>
            <a:off x="7524750" y="350520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8468"/>
          </a:bodyPr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58%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AA26950-01E2-4173-BE12-4A38CD586F6E}"/>
              </a:ext>
            </a:extLst>
          </p:cNvPr>
          <p:cNvSpPr>
            <a:spLocks noGrp="1"/>
          </p:cNvSpPr>
          <p:nvPr/>
        </p:nvSpPr>
        <p:spPr>
          <a:xfrm>
            <a:off x="895350" y="422910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084"/>
          </a:bodyPr>
          <a:lstStyle/>
          <a:p>
            <a:pPr algn="l">
              <a:lnSpc>
                <a:spcPct val="118000"/>
              </a:lnSpc>
              <a:buNone/>
              <a:def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식재료 알림 확인율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606B824-C443-4F28-872D-8D172CEF9B8C}"/>
              </a:ext>
            </a:extLst>
          </p:cNvPr>
          <p:cNvSpPr>
            <a:spLocks noGrp="1"/>
          </p:cNvSpPr>
          <p:nvPr/>
        </p:nvSpPr>
        <p:spPr>
          <a:xfrm>
            <a:off x="3333750" y="4286250"/>
            <a:ext cx="4000500" cy="171450"/>
          </a:xfrm>
          <a:prstGeom prst="rect">
            <a:avLst/>
          </a:prstGeom>
          <a:solidFill>
            <a:srgbClr val="E2D8C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5239C00-3374-4751-B7C1-581688E544FF}"/>
              </a:ext>
            </a:extLst>
          </p:cNvPr>
          <p:cNvSpPr>
            <a:spLocks noGrp="1"/>
          </p:cNvSpPr>
          <p:nvPr/>
        </p:nvSpPr>
        <p:spPr>
          <a:xfrm>
            <a:off x="3333750" y="4286250"/>
            <a:ext cx="2080260" cy="171450"/>
          </a:xfrm>
          <a:prstGeom prst="rect">
            <a:avLst/>
          </a:prstGeom>
          <a:solidFill>
            <a:srgbClr val="3B6C8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4C2515C-B1B0-45CB-B300-D78BCDA3A30E}"/>
              </a:ext>
            </a:extLst>
          </p:cNvPr>
          <p:cNvSpPr>
            <a:spLocks noGrp="1"/>
          </p:cNvSpPr>
          <p:nvPr/>
        </p:nvSpPr>
        <p:spPr>
          <a:xfrm>
            <a:off x="7524750" y="4210050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8468"/>
          </a:bodyPr>
          <a:lstStyle/>
          <a:p>
            <a:pPr algn="l">
              <a:lnSpc>
                <a:spcPct val="118000"/>
              </a:lnSpc>
              <a:buNone/>
              <a:defRPr sz="13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52%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CFA600E-DA4C-4C17-B6D2-59E8CF29575B}"/>
              </a:ext>
            </a:extLst>
          </p:cNvPr>
          <p:cNvSpPr>
            <a:spLocks noGrp="1"/>
          </p:cNvSpPr>
          <p:nvPr/>
        </p:nvSpPr>
        <p:spPr>
          <a:xfrm>
            <a:off x="8610600" y="2038350"/>
            <a:ext cx="2381250" cy="2667000"/>
          </a:xfrm>
          <a:prstGeom prst="rect">
            <a:avLst/>
          </a:prstGeom>
          <a:solidFill>
            <a:srgbClr val="FFF9EF"/>
          </a:solidFill>
          <a:ln w="9525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BD8C37C-14CC-4CFE-AD65-A44D9C84C0F1}"/>
              </a:ext>
            </a:extLst>
          </p:cNvPr>
          <p:cNvSpPr>
            <a:spLocks noGrp="1"/>
          </p:cNvSpPr>
          <p:nvPr/>
        </p:nvSpPr>
        <p:spPr>
          <a:xfrm>
            <a:off x="8877300" y="2324100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0621"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경영 성과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EC9F384-338A-46FF-81E6-048B48D7F461}"/>
              </a:ext>
            </a:extLst>
          </p:cNvPr>
          <p:cNvSpPr>
            <a:spLocks noGrp="1"/>
          </p:cNvSpPr>
          <p:nvPr/>
        </p:nvSpPr>
        <p:spPr>
          <a:xfrm>
            <a:off x="8877300" y="2857500"/>
            <a:ext cx="1714500" cy="1257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1803"/>
          </a:bodyPr>
          <a:lstStyle/>
          <a:p>
            <a:pPr algn="l">
              <a:lnSpc>
                <a:spcPct val="135000"/>
              </a:lnSpc>
              <a:buNone/>
              <a:defRPr sz="1350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ThinQ 재방문율 증가</a:t>
            </a: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연결 가전 사용 빈도 증가</a:t>
            </a: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프리미엄 위생가전 관심 증대</a:t>
            </a:r>
          </a:p>
          <a:p>
            <a:pPr algn="l">
              <a:lnSpc>
                <a:spcPct val="135000"/>
              </a:lnSpc>
              <a:buNone/>
              <a:defRPr sz="1350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반복 문의 감소 가능성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82B036D-ABEB-4254-97A5-C02E50BD95A9}"/>
              </a:ext>
            </a:extLst>
          </p:cNvPr>
          <p:cNvSpPr>
            <a:spLocks noGrp="1"/>
          </p:cNvSpPr>
          <p:nvPr/>
        </p:nvSpPr>
        <p:spPr>
          <a:xfrm>
            <a:off x="895350" y="5467350"/>
            <a:ext cx="781050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94162"/>
          </a:bodyPr>
          <a:lstStyle/>
          <a:p>
            <a:pPr algn="l">
              <a:lnSpc>
                <a:spcPct val="118000"/>
              </a:lnSpc>
              <a:buNone/>
              <a:defRPr sz="112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예시 수치는 최종 분석 단계에서 실제 수집 데이터와 프로토타입 사용 로그로 대체</a:t>
            </a:r>
          </a:p>
        </p:txBody>
      </p:sp>
    </p:spTree>
    <p:extLst>
      <p:ext uri="{BB962C8B-B14F-4D97-AF65-F5344CB8AC3E}">
        <p14:creationId xmlns:p14="http://schemas.microsoft.com/office/powerpoint/2010/main" val="22185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FCAA8EE1-93BD-4A61-B0D7-62C21A6D98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8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03D909D-B3D9-45BC-ACF3-634BB2E2BB1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6200" cy="209550"/>
          </a:xfrm>
          <a:prstGeom prst="rect">
            <a:avLst/>
          </a:prstGeom>
          <a:solidFill>
            <a:srgbClr val="A7193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3D9D14E-2D50-4E68-B728-51B85657CAD3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lnSpc>
                <a:spcPct val="118000"/>
              </a:lnSpc>
              <a:buNone/>
              <a:def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1930"/>
                </a:solidFill>
                <a:latin typeface="Malgun Gothic"/>
                <a:ea typeface="Malgun Gothic"/>
                <a:cs typeface="Malgun Gothic"/>
              </a:rPr>
              <a:t>FINAL MESSAGE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2A5F808-FC60-4021-B919-755992BA24CB}"/>
              </a:ext>
            </a:extLst>
          </p:cNvPr>
          <p:cNvSpPr>
            <a:spLocks noGrp="1"/>
          </p:cNvSpPr>
          <p:nvPr/>
        </p:nvSpPr>
        <p:spPr>
          <a:xfrm>
            <a:off x="609600" y="857250"/>
            <a:ext cx="723900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5811"/>
          </a:bodyPr>
          <a:lstStyle/>
          <a:p>
            <a:pPr algn="l">
              <a:lnSpc>
                <a:spcPct val="110000"/>
              </a:lnSpc>
              <a:buNone/>
              <a:def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ThinQ Care Routine은 ‘기록 앱’이 아니라 ‘집 안 자동화 경험’을 설계한다.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3B651C-D99D-4913-A23D-1AF25B170BE0}"/>
              </a:ext>
            </a:extLst>
          </p:cNvPr>
          <p:cNvSpPr>
            <a:spLocks noGrp="1"/>
          </p:cNvSpPr>
          <p:nvPr/>
        </p:nvSpPr>
        <p:spPr>
          <a:xfrm>
            <a:off x="609600" y="6329363"/>
            <a:ext cx="10439400" cy="9525"/>
          </a:xfrm>
          <a:prstGeom prst="rect">
            <a:avLst/>
          </a:prstGeom>
          <a:solidFill>
            <a:srgbClr val="D9D0C0"/>
          </a:solidFill>
          <a:ln w="0">
            <a:solidFill>
              <a:srgbClr val="D9D0C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90B98AD-2012-4F78-83FA-A783B2D673F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5334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E746D"/>
                </a:solidFill>
                <a:latin typeface="Malgun Gothic"/>
                <a:ea typeface="Malgun Gothic"/>
                <a:cs typeface="Malgun Gothic"/>
              </a:rPr>
              <a:t>ThinQ Care Routine | DX Project Draft  |  10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9BDF21E-250D-4584-8E24-BB9F7700F9CE}"/>
              </a:ext>
            </a:extLst>
          </p:cNvPr>
          <p:cNvSpPr>
            <a:spLocks noGrp="1"/>
          </p:cNvSpPr>
          <p:nvPr/>
        </p:nvSpPr>
        <p:spPr>
          <a:xfrm>
            <a:off x="1066800" y="2038350"/>
            <a:ext cx="723900" cy="723900"/>
          </a:xfrm>
          <a:prstGeom prst="ellipse">
            <a:avLst/>
          </a:prstGeom>
          <a:solidFill>
            <a:srgbClr val="A7193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DD97C45-99F3-4FC6-B711-724388C76763}"/>
              </a:ext>
            </a:extLst>
          </p:cNvPr>
          <p:cNvSpPr>
            <a:spLocks noGrp="1"/>
          </p:cNvSpPr>
          <p:nvPr/>
        </p:nvSpPr>
        <p:spPr>
          <a:xfrm>
            <a:off x="1066800" y="222885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64201"/>
          </a:bodyPr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BX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3D4C850-AE5E-468F-9633-6D267C17960A}"/>
              </a:ext>
            </a:extLst>
          </p:cNvPr>
          <p:cNvSpPr>
            <a:spLocks noGrp="1"/>
          </p:cNvSpPr>
          <p:nvPr/>
        </p:nvSpPr>
        <p:spPr>
          <a:xfrm>
            <a:off x="2190750" y="2190750"/>
            <a:ext cx="7048500" cy="3810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92754"/>
          </a:bodyPr>
          <a:lstStyle/>
          <a:p>
            <a:pPr algn="l">
              <a:lnSpc>
                <a:spcPct val="115000"/>
              </a:lnSpc>
              <a:buNone/>
              <a:defRPr sz="18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임산부 홈케어는 HS 제품군의 생활가전 경쟁력과 직접 연결된다.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A8FFF26-9B22-4B0D-A432-EF20C1EEC4F1}"/>
              </a:ext>
            </a:extLst>
          </p:cNvPr>
          <p:cNvSpPr>
            <a:spLocks noGrp="1"/>
          </p:cNvSpPr>
          <p:nvPr/>
        </p:nvSpPr>
        <p:spPr>
          <a:xfrm>
            <a:off x="1066800" y="3181350"/>
            <a:ext cx="723900" cy="723900"/>
          </a:xfrm>
          <a:prstGeom prst="ellipse">
            <a:avLst/>
          </a:prstGeom>
          <a:solidFill>
            <a:srgbClr val="2F6F5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118249D-869B-4B85-BB9C-6A28441A26C7}"/>
              </a:ext>
            </a:extLst>
          </p:cNvPr>
          <p:cNvSpPr>
            <a:spLocks noGrp="1"/>
          </p:cNvSpPr>
          <p:nvPr/>
        </p:nvSpPr>
        <p:spPr>
          <a:xfrm>
            <a:off x="1066800" y="337185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64201"/>
          </a:bodyPr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CX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F9EAA25-4604-41E1-845D-9C9E3D336C77}"/>
              </a:ext>
            </a:extLst>
          </p:cNvPr>
          <p:cNvSpPr>
            <a:spLocks noGrp="1"/>
          </p:cNvSpPr>
          <p:nvPr/>
        </p:nvSpPr>
        <p:spPr>
          <a:xfrm>
            <a:off x="2190750" y="3333750"/>
            <a:ext cx="7048500" cy="3810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0662"/>
          </a:bodyPr>
          <a:lstStyle/>
          <a:p>
            <a:pPr algn="l">
              <a:lnSpc>
                <a:spcPct val="115000"/>
              </a:lnSpc>
              <a:buNone/>
              <a:defRPr sz="18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고객 Pain Point는 검색 피로, 위생 루틴 누락, 직접 조작 부담, 가족 분담 부재다.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5B89444-29AA-4CDF-BD23-D5AC7DBB51ED}"/>
              </a:ext>
            </a:extLst>
          </p:cNvPr>
          <p:cNvSpPr>
            <a:spLocks noGrp="1"/>
          </p:cNvSpPr>
          <p:nvPr/>
        </p:nvSpPr>
        <p:spPr>
          <a:xfrm>
            <a:off x="1066800" y="4324350"/>
            <a:ext cx="723900" cy="723900"/>
          </a:xfrm>
          <a:prstGeom prst="ellipse">
            <a:avLst/>
          </a:prstGeom>
          <a:solidFill>
            <a:srgbClr val="C8952E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356E57-2C00-483B-ACD7-90FEC2AA0F7E}"/>
              </a:ext>
            </a:extLst>
          </p:cNvPr>
          <p:cNvSpPr>
            <a:spLocks noGrp="1"/>
          </p:cNvSpPr>
          <p:nvPr/>
        </p:nvSpPr>
        <p:spPr>
          <a:xfrm>
            <a:off x="1066800" y="451485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64201"/>
          </a:bodyPr>
          <a:lstStyle/>
          <a:p>
            <a:pPr algn="ctr">
              <a:lnSpc>
                <a:spcPct val="118000"/>
              </a:lnSpc>
              <a:buNone/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DX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BFC938D-6020-49A5-BB46-4D5EA7D3A8B3}"/>
              </a:ext>
            </a:extLst>
          </p:cNvPr>
          <p:cNvSpPr>
            <a:spLocks noGrp="1"/>
          </p:cNvSpPr>
          <p:nvPr/>
        </p:nvSpPr>
        <p:spPr>
          <a:xfrm>
            <a:off x="2190750" y="4476750"/>
            <a:ext cx="7048500" cy="3810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250"/>
          </a:bodyPr>
          <a:lstStyle/>
          <a:p>
            <a:pPr algn="l">
              <a:lnSpc>
                <a:spcPct val="115000"/>
              </a:lnSpc>
              <a:buNone/>
              <a:defRPr sz="18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F2421"/>
                </a:solidFill>
                <a:latin typeface="Malgun Gothic"/>
                <a:ea typeface="Malgun Gothic"/>
                <a:cs typeface="Malgun Gothic"/>
              </a:rPr>
              <a:t>소셜데이터 기반 루틴 추천과 ThinQ 실행 로그로 개선 효과를 추적할 수 있다.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3341E3-C467-4A4D-9DB5-86DCEE085CB0}"/>
              </a:ext>
            </a:extLst>
          </p:cNvPr>
          <p:cNvSpPr>
            <a:spLocks noGrp="1"/>
          </p:cNvSpPr>
          <p:nvPr/>
        </p:nvSpPr>
        <p:spPr>
          <a:xfrm>
            <a:off x="2038350" y="5562600"/>
            <a:ext cx="7239000" cy="457200"/>
          </a:xfrm>
          <a:prstGeom prst="rect">
            <a:avLst/>
          </a:prstGeom>
          <a:solidFill>
            <a:srgbClr val="1F2421"/>
          </a:solidFill>
          <a:ln w="0">
            <a:solidFill>
              <a:srgbClr val="1F242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2492188-512B-4AD8-A060-F5DB55470183}"/>
              </a:ext>
            </a:extLst>
          </p:cNvPr>
          <p:cNvSpPr>
            <a:spLocks noGrp="1"/>
          </p:cNvSpPr>
          <p:nvPr/>
        </p:nvSpPr>
        <p:spPr>
          <a:xfrm>
            <a:off x="2305050" y="5676900"/>
            <a:ext cx="670560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56497"/>
          </a:bodyPr>
          <a:lstStyle/>
          <a:p>
            <a:pPr algn="ctr">
              <a:lnSpc>
                <a:spcPct val="118000"/>
              </a:lnSpc>
              <a:buNone/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임산부의 생활 기록이 입력되면, ThinQ가 집 안 환경을 자동으로 조정한다</a:t>
            </a:r>
          </a:p>
        </p:txBody>
      </p:sp>
    </p:spTree>
    <p:extLst>
      <p:ext uri="{BB962C8B-B14F-4D97-AF65-F5344CB8AC3E}">
        <p14:creationId xmlns:p14="http://schemas.microsoft.com/office/powerpoint/2010/main" val="211571234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975</Words>
  <Application>Microsoft Office PowerPoint</Application>
  <DocSecurity>0</DocSecurity>
  <PresentationFormat>와이드스크린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Park kunbeom</cp:lastModifiedBy>
  <cp:revision>3</cp:revision>
  <dcterms:created xsi:type="dcterms:W3CDTF">2026-05-20T01:29:09Z</dcterms:created>
  <dcterms:modified xsi:type="dcterms:W3CDTF">2026-05-20T01:34:37Z</dcterms:modified>
</cp:coreProperties>
</file>