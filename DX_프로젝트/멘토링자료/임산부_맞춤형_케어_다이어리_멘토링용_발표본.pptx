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669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7A73"/>
                </a:solidFill>
              </a:rPr>
              <a:t>BX MENTORING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1051560"/>
            <a:ext cx="5577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임산부 맞춤형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케어 다이어리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5897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AI 기반으로 임산부의 신체·정서 상태를 기록하고,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맞춤형 케어와 보호자 공유로 연결하는 모바일 서비스 제안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52360" y="658368"/>
            <a:ext cx="3108960" cy="3108960"/>
          </a:xfrm>
          <a:prstGeom prst="arc">
            <a:avLst/>
          </a:prstGeom>
          <a:noFill/>
          <a:ln w="101600">
            <a:solidFill>
              <a:srgbClr val="D96C5F">
                <a:alpha val="9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320000">
            <a:off x="8065008" y="1207008"/>
            <a:ext cx="2743200" cy="2743200"/>
          </a:xfrm>
          <a:prstGeom prst="arc">
            <a:avLst/>
          </a:prstGeom>
          <a:noFill/>
          <a:ln w="101600">
            <a:solidFill>
              <a:srgbClr val="1F7A73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94192" y="1572768"/>
            <a:ext cx="1783080" cy="1783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1947672"/>
            <a:ext cx="1261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기록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공유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케어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133088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1F7A73"/>
          </a:solidFill>
          <a:ln w="12700">
            <a:solidFill>
              <a:srgbClr val="1F7A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4192524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추진배경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1993392" y="4133088"/>
            <a:ext cx="1444752" cy="274320"/>
          </a:xfrm>
          <a:prstGeom prst="roundRect">
            <a:avLst>
              <a:gd name="adj" fmla="val 16667"/>
            </a:avLst>
          </a:prstGeom>
          <a:solidFill>
            <a:srgbClr val="D96C5F"/>
          </a:solidFill>
          <a:ln w="12700">
            <a:solidFill>
              <a:srgbClr val="D96C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66544" y="4192524"/>
            <a:ext cx="1298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고객감동 목표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3611880" y="4133088"/>
            <a:ext cx="1508760" cy="274320"/>
          </a:xfrm>
          <a:prstGeom prst="roundRect">
            <a:avLst>
              <a:gd name="adj" fmla="val 16667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5032" y="4192524"/>
            <a:ext cx="1362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데이터 수집 전략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685800" y="4617720"/>
            <a:ext cx="8001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</a:rPr>
              <a:t>현재 가설: 임산부의 신체 변화와 스트레스를 기록·공유·맞춤 케어로 연결하면 실질적인 관리 경험을 제공할 수 있다.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30352" y="6574536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DDE6EA"/>
                </a:solidFill>
              </a:rPr>
              <a:t>출처: 5기_DX_3팀_최종산출문서.pdf 기반 팀 기획안 재구성</a:t>
            </a:r>
            <a:endParaRPr lang="en-US" sz="5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8404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7A73"/>
                </a:solidFill>
              </a:rPr>
              <a:t>1. 추진배경 | 국내 모바일 소비 흐름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임신·출산·육아 활동은 모바일 중심으로 이동 중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30759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임산부 용품 단일 시장 규모보다, 국내 모바일 소비와 육아용품 온라인 거래 흐름을 근거로 제시합니다.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658368" y="1993392"/>
            <a:ext cx="2423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993392"/>
            <a:ext cx="82296" cy="1078992"/>
          </a:xfrm>
          <a:prstGeom prst="rect">
            <a:avLst/>
          </a:prstGeom>
          <a:solidFill>
            <a:srgbClr val="1F7A73"/>
          </a:solidFill>
          <a:ln w="12700">
            <a:solidFill>
              <a:srgbClr val="1F7A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57984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7A73"/>
                </a:solidFill>
              </a:rPr>
              <a:t>242조원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77824" y="2532888"/>
            <a:ext cx="2039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2933"/>
                </a:solidFill>
              </a:rPr>
              <a:t>2024년 온라인쇼핑 거래액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877824" y="2761488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전년 대비 증가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310128" y="1993392"/>
            <a:ext cx="2423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0128" y="1993392"/>
            <a:ext cx="82296" cy="1078992"/>
          </a:xfrm>
          <a:prstGeom prst="rect">
            <a:avLst/>
          </a:prstGeom>
          <a:solidFill>
            <a:srgbClr val="D96C5F"/>
          </a:solidFill>
          <a:ln w="12700">
            <a:solidFill>
              <a:srgbClr val="D96C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157984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96C5F"/>
                </a:solidFill>
              </a:rPr>
              <a:t>182조원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3529584" y="2532888"/>
            <a:ext cx="2039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2933"/>
                </a:solidFill>
              </a:rPr>
              <a:t>2024년 모바일쇼핑 거래액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529584" y="2761488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온라인 소비의 핵심 채널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961888" y="1993392"/>
            <a:ext cx="2423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61888" y="1993392"/>
            <a:ext cx="82296" cy="1078992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2157984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9A441"/>
                </a:solidFill>
              </a:rPr>
              <a:t>82.7%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181344" y="2532888"/>
            <a:ext cx="2039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2933"/>
                </a:solidFill>
              </a:rPr>
              <a:t>아동·유아용품 모바일 비중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6181344" y="2761488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2024년 5월 기준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8823960" y="1847088"/>
            <a:ext cx="2606040" cy="1335024"/>
          </a:xfrm>
          <a:prstGeom prst="rect">
            <a:avLst/>
          </a:prstGeom>
          <a:solidFill>
            <a:srgbClr val="F7E6E2"/>
          </a:solidFill>
          <a:ln w="12700">
            <a:solidFill>
              <a:srgbClr val="F7E6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20574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6C5F"/>
                </a:solidFill>
              </a:rPr>
              <a:t>시사점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052560" y="235915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정보 탐색과 소비가 모바일에서 이루어지는 사용자 환경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" y="4032504"/>
            <a:ext cx="73152" cy="73152"/>
          </a:xfrm>
          <a:prstGeom prst="ellipse">
            <a:avLst/>
          </a:prstGeom>
          <a:solidFill>
            <a:srgbClr val="D96C5F"/>
          </a:solidFill>
          <a:ln w="12700">
            <a:solidFill>
              <a:srgbClr val="D96C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3950208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발표에서는 해외 시장 전망 대신 국내 온라인·모바일 소비 흐름을 근거로 제시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4489704"/>
            <a:ext cx="73152" cy="73152"/>
          </a:xfrm>
          <a:prstGeom prst="ellipse">
            <a:avLst/>
          </a:prstGeom>
          <a:solidFill>
            <a:srgbClr val="D96C5F"/>
          </a:solidFill>
          <a:ln w="12700">
            <a:solidFill>
              <a:srgbClr val="D96C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4407408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서비스 방향은 ‘모바일에서 쉽게 기록하고 관리하는 임산부 케어 경험’으로 연결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" y="6574536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DDE6EA"/>
                </a:solidFill>
              </a:rPr>
              <a:t>출처: 통계청/KDI 경제정보센터, 「2024년 12월 및 연간 온라인쇼핑동향」; 통계청, 「2024년 5월 온라인쇼핑동향」</a:t>
            </a:r>
            <a:endParaRPr lang="en-US" sz="5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8404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7A73"/>
                </a:solidFill>
              </a:rPr>
              <a:t>1. 추진배경 | 공공서비스 흐름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국내 공공서비스도 임신·출산 기록을 모바일로 관리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30759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아이마중은 임신 주차 정보, 임산부 수첩, 정기 진찰, 검사, 아기 수첩 기록을 제공하는 공공 모바일 서비스입니다.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713232" y="1828800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396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7A73"/>
                </a:solidFill>
              </a:rPr>
              <a:t>아이마중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87552" y="2697480"/>
            <a:ext cx="2130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임신·출산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모바일 플랫폼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325880" y="3858768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1F7A73"/>
          </a:solidFill>
          <a:ln w="12700">
            <a:solidFill>
              <a:srgbClr val="1F7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99032" y="3918204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공공서비스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3977640" y="1901952"/>
            <a:ext cx="208483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78808" y="21762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</a:rPr>
              <a:t>임산부 수첩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178808" y="261518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정기 진찰과 임신 중 검사 기록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464808" y="1901952"/>
            <a:ext cx="2084832" cy="1874520"/>
          </a:xfrm>
          <a:prstGeom prst="rect">
            <a:avLst/>
          </a:prstGeom>
          <a:solidFill>
            <a:srgbClr val="F7E6E2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65976" y="21762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D96C5F"/>
                </a:solidFill>
              </a:rPr>
              <a:t>주차별 정보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665976" y="261518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임신 단계별 변화와 건강관리 요령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8951976" y="1901952"/>
            <a:ext cx="208483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53144" y="21762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</a:rPr>
              <a:t>아기 수첩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153144" y="261518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출산 이후 육아 기록으로 확장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5248656" y="4407408"/>
            <a:ext cx="1261872" cy="411480"/>
          </a:xfrm>
          <a:prstGeom prst="chevron">
            <a:avLst/>
          </a:prstGeom>
          <a:solidFill>
            <a:srgbClr val="1F7A73"/>
          </a:solidFill>
          <a:ln w="12700">
            <a:solidFill>
              <a:srgbClr val="1F7A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4370832"/>
            <a:ext cx="4206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F2933"/>
                </a:solidFill>
              </a:rPr>
              <a:t>우리 서비스는 기록 대상을 신체 상태뿐 아니라 스트레스·감정 변화까지 확장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530352" y="6574536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DDE6EA"/>
                </a:solidFill>
              </a:rPr>
              <a:t>출처: 한국사회보장정보원, 「아이마중 소개」</a:t>
            </a:r>
            <a:endParaRPr lang="en-US" sz="5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8404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7A73"/>
                </a:solidFill>
              </a:rPr>
              <a:t>1. 추진배경 | 출산 환경 변화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출산율은 낮지만, 임신·출산 케어의 중요도는 커지는 구간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30759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출생아 수 반등, 출산연령 상승, 고령임신 리스크가 동시에 나타납니다.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658368" y="1874520"/>
            <a:ext cx="2505456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874520"/>
            <a:ext cx="82296" cy="1078992"/>
          </a:xfrm>
          <a:prstGeom prst="rect">
            <a:avLst/>
          </a:prstGeom>
          <a:solidFill>
            <a:srgbClr val="1F7A73"/>
          </a:solidFill>
          <a:ln w="12700">
            <a:solidFill>
              <a:srgbClr val="1F7A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03911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7A73"/>
                </a:solidFill>
              </a:rPr>
              <a:t>23.8만명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77824" y="2414016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2933"/>
                </a:solidFill>
              </a:rPr>
              <a:t>2024년 출생아 수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877824" y="2642616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전년 대비 3.6% 증가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447288" y="1874520"/>
            <a:ext cx="2505456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47288" y="1874520"/>
            <a:ext cx="82296" cy="1078992"/>
          </a:xfrm>
          <a:prstGeom prst="rect">
            <a:avLst/>
          </a:prstGeom>
          <a:solidFill>
            <a:srgbClr val="D96C5F"/>
          </a:solidFill>
          <a:ln w="12700">
            <a:solidFill>
              <a:srgbClr val="D96C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203911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96C5F"/>
                </a:solidFill>
              </a:rPr>
              <a:t>0.75명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3666744" y="2414016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2933"/>
                </a:solidFill>
              </a:rPr>
              <a:t>2024년 합계출산율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666744" y="2642616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전년 대비 반등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236208" y="1874520"/>
            <a:ext cx="2505456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6208" y="1874520"/>
            <a:ext cx="82296" cy="1078992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03911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9A441"/>
                </a:solidFill>
              </a:rPr>
              <a:t>33.7세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455664" y="2414016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2933"/>
                </a:solidFill>
              </a:rPr>
              <a:t>모의 평균 출산연령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6455664" y="2642616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출산연령 상승 지속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94944" y="3593592"/>
            <a:ext cx="1078992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38221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F7A73"/>
                </a:solidFill>
              </a:rPr>
              <a:t>서비스 가설로 연결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32688" y="413308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F2933"/>
                </a:solidFill>
              </a:rPr>
              <a:t>임신·출산 연령이 높아질수록 산모의 수면, 통증, 컨디션, 이상 징후, 정서 상태를 지속적으로 기록하고 관리할 필요성이 커진다.</a:t>
            </a:r>
            <a:endParaRPr lang="en-US" sz="1380" dirty="0"/>
          </a:p>
        </p:txBody>
      </p:sp>
      <p:sp>
        <p:nvSpPr>
          <p:cNvPr id="25" name="Text 23"/>
          <p:cNvSpPr/>
          <p:nvPr/>
        </p:nvSpPr>
        <p:spPr>
          <a:xfrm>
            <a:off x="530352" y="6574536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DDE6EA"/>
                </a:solidFill>
              </a:rPr>
              <a:t>출처: 통계청, 「2024년 출생 통계」; 질병관리청 국가건강정보포털, 「조산」</a:t>
            </a:r>
            <a:endParaRPr lang="en-US" sz="5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8404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7A73"/>
                </a:solidFill>
              </a:rPr>
              <a:t>1. 추진배경 | 임산부 스트레스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임신 과정의 심리적 부담은 정책 지원 대상이 될 만큼 현실적 문제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30759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신체적 불편뿐 아니라 불안, 우울, 스트레스 등 정서적 부담도 서비스가 다뤄야 할 핵심 문제입니다.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713232" y="1847088"/>
            <a:ext cx="2788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847088"/>
            <a:ext cx="82296" cy="1078992"/>
          </a:xfrm>
          <a:prstGeom prst="rect">
            <a:avLst/>
          </a:prstGeom>
          <a:solidFill>
            <a:srgbClr val="1F7A73"/>
          </a:solidFill>
          <a:ln w="12700">
            <a:solidFill>
              <a:srgbClr val="1F7A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2011680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7A73"/>
                </a:solidFill>
              </a:rPr>
              <a:t>44,351건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932688" y="2386584"/>
            <a:ext cx="2404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2933"/>
                </a:solidFill>
              </a:rPr>
              <a:t>2024년 전체 상담실적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932688" y="2615184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난임·임산부 심리상담센터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794760" y="1847088"/>
            <a:ext cx="2788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94760" y="1847088"/>
            <a:ext cx="82296" cy="1078992"/>
          </a:xfrm>
          <a:prstGeom prst="rect">
            <a:avLst/>
          </a:prstGeom>
          <a:solidFill>
            <a:srgbClr val="D96C5F"/>
          </a:solidFill>
          <a:ln w="12700">
            <a:solidFill>
              <a:srgbClr val="D96C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05072" y="2011680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96C5F"/>
                </a:solidFill>
              </a:rPr>
              <a:t>12,176건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4014216" y="2386584"/>
            <a:ext cx="2404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2933"/>
                </a:solidFill>
              </a:rPr>
              <a:t>임신부 상담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014216" y="2615184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산전·후 우울증 등 정서 상담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876288" y="1847088"/>
            <a:ext cx="2788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76288" y="1847088"/>
            <a:ext cx="82296" cy="1078992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2011680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9A441"/>
                </a:solidFill>
              </a:rPr>
              <a:t>전국 확대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7095744" y="2386584"/>
            <a:ext cx="2404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2933"/>
                </a:solidFill>
              </a:rPr>
              <a:t>지원 방향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7095744" y="2615184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2026년까지 권역센터 확충 계획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13232" y="3822192"/>
            <a:ext cx="10744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416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7A73"/>
                </a:solidFill>
              </a:rPr>
              <a:t>기능 연결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874520" y="396849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스트레스 기록 → 감정 체크인 → 보호자 공유 → 상담기관 안내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874520" y="443484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핵심은 ‘정보 제공 앱’이 아니라 임산부의 정서 상태를 드러내고 주변 도움으로 연결하는 케어 경험입니다.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0352" y="6574536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DDE6EA"/>
                </a:solidFill>
              </a:rPr>
              <a:t>출처: 저출산고령사회위원회, 「난임·임산부 심리지원 확대 전국 확산 추진」</a:t>
            </a:r>
            <a:endParaRPr lang="en-US" sz="5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8404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7A73"/>
                </a:solidFill>
              </a:rPr>
              <a:t>2. 고객감동 목표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혼자 버티는 임신이 아니라, 이해받고 관리되는 임신 경험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30759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기능 목록보다 고객이 체감하는 변화 중심으로 정의합니다.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768096" y="1874520"/>
            <a:ext cx="3127248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157984"/>
            <a:ext cx="493776" cy="493776"/>
          </a:xfrm>
          <a:prstGeom prst="ellipse">
            <a:avLst/>
          </a:prstGeom>
          <a:solidFill>
            <a:srgbClr val="1F7A73"/>
          </a:solidFill>
          <a:ln w="12700">
            <a:solidFill>
              <a:srgbClr val="1F7A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9576" y="2286000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42416" y="27797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7A73"/>
                </a:solidFill>
              </a:rPr>
              <a:t>안심감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42416" y="3264408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</a:rPr>
              <a:t>수면·통증·컨디션·일정을 기록해 ‘내 상태가 관리되고 있다’는 감각 제공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4471416" y="1874520"/>
            <a:ext cx="3127248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27448" y="2157984"/>
            <a:ext cx="493776" cy="493776"/>
          </a:xfrm>
          <a:prstGeom prst="ellipse">
            <a:avLst/>
          </a:prstGeom>
          <a:solidFill>
            <a:srgbClr val="D96C5F"/>
          </a:solidFill>
          <a:ln w="12700">
            <a:solidFill>
              <a:srgbClr val="D96C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82896" y="2286000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45736" y="27797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D96C5F"/>
                </a:solidFill>
              </a:rPr>
              <a:t>공감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45736" y="3264408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</a:rPr>
              <a:t>감정 체크인과 보호자 공유로 말하기 어려운 스트레스도 드러낼 수 있게 설계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8174736" y="1874520"/>
            <a:ext cx="3127248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30768" y="2157984"/>
            <a:ext cx="493776" cy="49377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86216" y="2286000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449056" y="27797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D9A441"/>
                </a:solidFill>
              </a:rPr>
              <a:t>맞춤 케어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49056" y="3264408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</a:rPr>
              <a:t>기록 데이터를 기반으로 주차·상태별 알림, 콘텐츠, 상담기관 안내 제공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786384" y="48280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7A73"/>
                </a:solidFill>
              </a:rPr>
              <a:t>고객감동 목표 문장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786384" y="513892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</a:rPr>
              <a:t>임산부가 서비스를 통해 ‘내 상태를 이해받고 있다’, ‘필요한 도움을 제때 받을 수 있다’, ‘혼자가 아니다’라고 느끼게 만든다.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30352" y="6574536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DDE6EA"/>
                </a:solidFill>
              </a:rPr>
              <a:t>출처: 팀 서비스 가설 및 BX 고객감동 목표 재정의</a:t>
            </a:r>
            <a:endParaRPr lang="en-US" sz="5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8404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7A73"/>
                </a:solidFill>
              </a:rPr>
              <a:t>3. 데이터 수집 전략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크롤링 데이터는 페르소나와 기능 우선순위를 검증하는 근거로 사용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30759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커뮤니티와 리뷰 데이터를 통해 실제 임산부가 반복적으로 말하는 문제를 확인합니다.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658368" y="1874520"/>
            <a:ext cx="2359152" cy="2304288"/>
          </a:xfrm>
          <a:prstGeom prst="rect">
            <a:avLst/>
          </a:prstGeom>
          <a:solidFill>
            <a:srgbClr val="F7E6E2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1214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D96C5F"/>
                </a:solidFill>
              </a:rPr>
              <a:t>01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859536" y="2487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수집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9536" y="2999232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4748B"/>
                </a:solidFill>
              </a:rPr>
              <a:t>네이버 지식인·카페·맘 커뮤니티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64748B"/>
                </a:solidFill>
              </a:rPr>
              <a:t>임신 스트레스, 태동, 통증, 수면, 남편 도움, 산후우울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3474720" y="1874520"/>
            <a:ext cx="2359152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21214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D96C5F"/>
                </a:solidFill>
              </a:rPr>
              <a:t>02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3675888" y="2487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전처리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75888" y="2999232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4748B"/>
                </a:solidFill>
              </a:rPr>
              <a:t>중복 제거, 개인정보 제거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64748B"/>
                </a:solidFill>
              </a:rPr>
              <a:t>임신 단계·감정·증상·도움 요청 유형 라벨링</a:t>
            </a:r>
            <a:endParaRPr lang="en-US" sz="890" dirty="0"/>
          </a:p>
        </p:txBody>
      </p:sp>
      <p:sp>
        <p:nvSpPr>
          <p:cNvPr id="15" name="Shape 13"/>
          <p:cNvSpPr/>
          <p:nvPr/>
        </p:nvSpPr>
        <p:spPr>
          <a:xfrm>
            <a:off x="6291072" y="1874520"/>
            <a:ext cx="2359152" cy="2304288"/>
          </a:xfrm>
          <a:prstGeom prst="rect">
            <a:avLst/>
          </a:prstGeom>
          <a:solidFill>
            <a:srgbClr val="F7E6E2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1214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D96C5F"/>
                </a:solidFill>
              </a:rPr>
              <a:t>03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6492240" y="2487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분석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2999232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4748B"/>
                </a:solidFill>
              </a:rPr>
              <a:t>빈도 분석, 감성 분석, 토픽 분류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64748B"/>
                </a:solidFill>
              </a:rPr>
              <a:t>반복 문제와 맥락 파악</a:t>
            </a:r>
            <a:endParaRPr lang="en-US" sz="890" dirty="0"/>
          </a:p>
        </p:txBody>
      </p:sp>
      <p:sp>
        <p:nvSpPr>
          <p:cNvPr id="19" name="Shape 17"/>
          <p:cNvSpPr/>
          <p:nvPr/>
        </p:nvSpPr>
        <p:spPr>
          <a:xfrm>
            <a:off x="9107424" y="1874520"/>
            <a:ext cx="2359152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08592" y="21214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D96C5F"/>
                </a:solidFill>
              </a:rPr>
              <a:t>04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9308592" y="2487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활용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08592" y="2999232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4748B"/>
                </a:solidFill>
              </a:rPr>
              <a:t>Actor·Persona 도출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64748B"/>
                </a:solidFill>
              </a:rPr>
              <a:t>핵심 기능과 고객여정 설계</a:t>
            </a:r>
            <a:endParaRPr lang="en-US" sz="890" dirty="0"/>
          </a:p>
        </p:txBody>
      </p:sp>
      <p:sp>
        <p:nvSpPr>
          <p:cNvPr id="23" name="Text 21"/>
          <p:cNvSpPr/>
          <p:nvPr/>
        </p:nvSpPr>
        <p:spPr>
          <a:xfrm>
            <a:off x="713232" y="47365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7A73"/>
                </a:solidFill>
              </a:rPr>
              <a:t>분석 결과 활용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" y="507492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</a:rPr>
              <a:t>수집 데이터로 임산부 전체가 아니라 초산모, 직장인 임산부, 고령 산모 등 더 설득력 있는 타깃과 기능 우선순위를 도출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30352" y="6574536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DDE6EA"/>
                </a:solidFill>
              </a:rPr>
              <a:t>출처: 5기_DX_3팀_최종산출문서.pdf 데이터 수집 전략 보완</a:t>
            </a:r>
            <a:endParaRPr lang="en-US" sz="5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8404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7A73"/>
                </a:solidFill>
              </a:rPr>
              <a:t>멘토 피드백 요청사항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현재 기획에서 검증받고 싶은 지점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30759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타깃, 문제정의, 고객감동 목표, 데이터 전략을 중심으로 피드백을 요청합니다.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749808" y="1691640"/>
            <a:ext cx="256032" cy="256032"/>
          </a:xfrm>
          <a:prstGeom prst="ellipse">
            <a:avLst/>
          </a:prstGeom>
          <a:solidFill>
            <a:srgbClr val="D96C5F"/>
          </a:solidFill>
          <a:ln w="12700">
            <a:solidFill>
              <a:srgbClr val="D96C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6022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1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33856" y="166420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3"/>
                </a:solidFill>
              </a:rPr>
              <a:t>타깃을 임산부 전체로 잡아도 되는지, 초산모·직장인 임산부·고령 산모처럼 좁혀야 하는지 궁금합니다.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749808" y="2295144"/>
            <a:ext cx="256032" cy="256032"/>
          </a:xfrm>
          <a:prstGeom prst="ellipse">
            <a:avLst/>
          </a:prstGeom>
          <a:solidFill>
            <a:srgbClr val="D96C5F"/>
          </a:solidFill>
          <a:ln w="12700">
            <a:solidFill>
              <a:srgbClr val="D96C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363724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2</a:t>
            </a:r>
            <a:endParaRPr lang="en-US" sz="550" dirty="0"/>
          </a:p>
        </p:txBody>
      </p:sp>
      <p:sp>
        <p:nvSpPr>
          <p:cNvPr id="12" name="Text 10"/>
          <p:cNvSpPr/>
          <p:nvPr/>
        </p:nvSpPr>
        <p:spPr>
          <a:xfrm>
            <a:off x="1133856" y="226771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3"/>
                </a:solidFill>
              </a:rPr>
              <a:t>문제 정의를 ‘임산부의 신체 변화와 스트레스를 지속적으로 기록·관리하기 어렵다’로 잡는 것이 충분히 설득력 있는지 궁금합니다.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749808" y="2898648"/>
            <a:ext cx="256032" cy="256032"/>
          </a:xfrm>
          <a:prstGeom prst="ellipse">
            <a:avLst/>
          </a:prstGeom>
          <a:solidFill>
            <a:srgbClr val="D96C5F"/>
          </a:solidFill>
          <a:ln w="12700">
            <a:solidFill>
              <a:srgbClr val="D96C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6722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3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1133856" y="2871216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3"/>
                </a:solidFill>
              </a:rPr>
              <a:t>고객감동 목표를 ‘안심감, 공감, 맞춤 케어’로 설정했을 때 BX 관점에서 더 강화해야 할 경험이 있을까요?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749808" y="3502152"/>
            <a:ext cx="256032" cy="256032"/>
          </a:xfrm>
          <a:prstGeom prst="ellipse">
            <a:avLst/>
          </a:prstGeom>
          <a:solidFill>
            <a:srgbClr val="1F7A73"/>
          </a:solidFill>
          <a:ln w="12700">
            <a:solidFill>
              <a:srgbClr val="1F7A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570732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4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1133856" y="347472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3"/>
                </a:solidFill>
              </a:rPr>
              <a:t>감정 체크인, 스트레스 기록, 보호자 공유, 맞춤형 케어 추천 중 MVP에서 가장 먼저 검증해야 할 핵심 기능은 무엇일까요?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749808" y="4105656"/>
            <a:ext cx="256032" cy="256032"/>
          </a:xfrm>
          <a:prstGeom prst="ellipse">
            <a:avLst/>
          </a:prstGeom>
          <a:solidFill>
            <a:srgbClr val="1F7A73"/>
          </a:solidFill>
          <a:ln w="12700">
            <a:solidFill>
              <a:srgbClr val="1F7A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74236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5</a:t>
            </a:r>
            <a:endParaRPr lang="en-US" sz="550" dirty="0"/>
          </a:p>
        </p:txBody>
      </p:sp>
      <p:sp>
        <p:nvSpPr>
          <p:cNvPr id="21" name="Text 19"/>
          <p:cNvSpPr/>
          <p:nvPr/>
        </p:nvSpPr>
        <p:spPr>
          <a:xfrm>
            <a:off x="1133856" y="407822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3"/>
                </a:solidFill>
              </a:rPr>
              <a:t>커뮤니티·리뷰 크롤링 데이터를 액터와 페르소나 도출에 활용하는 방식이 적절한지, 추가로 수집해야 할 데이터가 있을까요?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49808" y="4709160"/>
            <a:ext cx="256032" cy="256032"/>
          </a:xfrm>
          <a:prstGeom prst="ellipse">
            <a:avLst/>
          </a:prstGeom>
          <a:solidFill>
            <a:srgbClr val="1F7A73"/>
          </a:solidFill>
          <a:ln w="12700">
            <a:solidFill>
              <a:srgbClr val="1F7A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77774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6</a:t>
            </a:r>
            <a:endParaRPr lang="en-US" sz="550" dirty="0"/>
          </a:p>
        </p:txBody>
      </p:sp>
      <p:sp>
        <p:nvSpPr>
          <p:cNvPr id="24" name="Text 22"/>
          <p:cNvSpPr/>
          <p:nvPr/>
        </p:nvSpPr>
        <p:spPr>
          <a:xfrm>
            <a:off x="1133856" y="468172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3"/>
                </a:solidFill>
              </a:rPr>
              <a:t>임산부의 건강·감정 데이터를 다루는 서비스에서 기획 단계부터 고려해야 할 개인정보·민감정보 리스크는 무엇일까요?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530352" y="6574536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DDE6EA"/>
                </a:solidFill>
              </a:rPr>
              <a:t>출처: 팀 논의 기반 피드백 요청사항 정리</a:t>
            </a:r>
            <a:endParaRPr lang="en-US" sz="5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8404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7A73"/>
                </a:solidFill>
              </a:rPr>
              <a:t>참고자료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발표 근거로 사용한 국내 자료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30759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각 자료는 추진배경과 서비스 가설을 뒷받침하는 용도로 사용했습니다.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749808" y="1847088"/>
            <a:ext cx="137160" cy="137160"/>
          </a:xfrm>
          <a:prstGeom prst="rect">
            <a:avLst/>
          </a:prstGeom>
          <a:solidFill>
            <a:srgbClr val="1F7A73"/>
          </a:solidFill>
          <a:ln w="12700">
            <a:solidFill>
              <a:srgbClr val="1F7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82880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통계청/KDI 경제정보센터, 「2024년 12월 및 연간 온라인쇼핑동향」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" y="2322576"/>
            <a:ext cx="137160" cy="137160"/>
          </a:xfrm>
          <a:prstGeom prst="rect">
            <a:avLst/>
          </a:prstGeom>
          <a:solidFill>
            <a:srgbClr val="1F7A73"/>
          </a:solidFill>
          <a:ln w="12700">
            <a:solidFill>
              <a:srgbClr val="1F7A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304288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통계청, 「2024년 5월 온라인쇼핑동향」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" y="2798064"/>
            <a:ext cx="137160" cy="137160"/>
          </a:xfrm>
          <a:prstGeom prst="rect">
            <a:avLst/>
          </a:prstGeom>
          <a:solidFill>
            <a:srgbClr val="1F7A73"/>
          </a:solidFill>
          <a:ln w="12700">
            <a:solidFill>
              <a:srgbClr val="1F7A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779776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한국사회보장정보원, 「아이마중 소개」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" y="3273552"/>
            <a:ext cx="137160" cy="137160"/>
          </a:xfrm>
          <a:prstGeom prst="rect">
            <a:avLst/>
          </a:prstGeom>
          <a:solidFill>
            <a:srgbClr val="1F7A73"/>
          </a:solidFill>
          <a:ln w="12700">
            <a:solidFill>
              <a:srgbClr val="1F7A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25526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통계청, 「2024년 출생 통계」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9808" y="3749040"/>
            <a:ext cx="137160" cy="137160"/>
          </a:xfrm>
          <a:prstGeom prst="rect">
            <a:avLst/>
          </a:prstGeom>
          <a:solidFill>
            <a:srgbClr val="1F7A73"/>
          </a:solidFill>
          <a:ln w="12700">
            <a:solidFill>
              <a:srgbClr val="1F7A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373075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질병관리청 국가건강정보포털, 「조산」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9808" y="4224528"/>
            <a:ext cx="137160" cy="137160"/>
          </a:xfrm>
          <a:prstGeom prst="rect">
            <a:avLst/>
          </a:prstGeom>
          <a:solidFill>
            <a:srgbClr val="1F7A73"/>
          </a:solidFill>
          <a:ln w="12700">
            <a:solidFill>
              <a:srgbClr val="1F7A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420624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저출산고령사회위원회, 「난임·임산부 심리지원 확대 전국 확산 추진」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" y="4700016"/>
            <a:ext cx="137160" cy="137160"/>
          </a:xfrm>
          <a:prstGeom prst="rect">
            <a:avLst/>
          </a:prstGeom>
          <a:solidFill>
            <a:srgbClr val="D96C5F"/>
          </a:solidFill>
          <a:ln w="12700">
            <a:solidFill>
              <a:srgbClr val="D96C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4681728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5기_DX_3팀_최종산출문서.pdf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" y="6574536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DDE6EA"/>
                </a:solidFill>
              </a:rPr>
              <a:t>출처: 국내 공공기관·정부 통계 및 팀 산출문서</a:t>
            </a:r>
            <a:endParaRPr lang="en-US" sz="5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LG전자 DX스쿨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임산부 맞춤형 케어 다이어리 멘토링용</dc:title>
  <dc:subject>BX mentoring deck</dc:subject>
  <dc:creator>보람삼조</dc:creator>
  <cp:lastModifiedBy>보람삼조</cp:lastModifiedBy>
  <cp:revision>1</cp:revision>
  <dcterms:created xsi:type="dcterms:W3CDTF">2026-05-21T07:28:57Z</dcterms:created>
  <dcterms:modified xsi:type="dcterms:W3CDTF">2026-05-21T07:28:57Z</dcterms:modified>
</cp:coreProperties>
</file>