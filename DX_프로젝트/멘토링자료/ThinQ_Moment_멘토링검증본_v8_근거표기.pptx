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10896" cy="6473952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669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A50034"/>
                </a:solidFill>
              </a:rPr>
              <a:t>TEAM CONCEPT PROPOSAL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202124"/>
                </a:solidFill>
              </a:rPr>
              <a:t>ThinQ Moment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20" b="1" dirty="0">
                <a:solidFill>
                  <a:srgbClr val="202124"/>
                </a:solidFill>
              </a:rPr>
              <a:t>LG 가전 생태계 기반</a:t>
            </a:r>
            <a:endParaRPr lang="en-US" sz="2520" dirty="0"/>
          </a:p>
          <a:p>
            <a:pPr indent="0" marL="0">
              <a:buNone/>
            </a:pPr>
            <a:r>
              <a:rPr lang="en-US" sz="2520" b="1" dirty="0">
                <a:solidFill>
                  <a:srgbClr val="202124"/>
                </a:solidFill>
              </a:rPr>
              <a:t>임산부 초개인화 케어 솔루션</a:t>
            </a:r>
            <a:endParaRPr lang="en-US" sz="252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667085"/>
                </a:solidFill>
              </a:rPr>
              <a:t>임산부의 감정 변화, 건강 기록, 일상을 AI로 분석하여 맞춤형 케어를 제공하는 스마트 임신 다이어리 서비스</a:t>
            </a:r>
            <a:endParaRPr lang="en-US" sz="1310" dirty="0"/>
          </a:p>
        </p:txBody>
      </p:sp>
      <p:sp>
        <p:nvSpPr>
          <p:cNvPr id="9" name="Shape 7"/>
          <p:cNvSpPr/>
          <p:nvPr/>
        </p:nvSpPr>
        <p:spPr>
          <a:xfrm>
            <a:off x="694944" y="3895344"/>
            <a:ext cx="6583680" cy="786384"/>
          </a:xfrm>
          <a:prstGeom prst="roundRect">
            <a:avLst>
              <a:gd name="adj" fmla="val 4651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4223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02124"/>
                </a:solidFill>
              </a:rPr>
              <a:t>본 자료는 실제 LG 내부 서비스가 아니라, LG ThinQ 및 가전 구독 전략과 연계해 팀이 새롭게 제안하는 BX/DX 컨셉입니다.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914400" y="4443984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4491533"/>
            <a:ext cx="85039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제안 Concept</a:t>
            </a:r>
            <a:endParaRPr lang="en-US" sz="560" dirty="0"/>
          </a:p>
        </p:txBody>
      </p:sp>
      <p:sp>
        <p:nvSpPr>
          <p:cNvPr id="13" name="Shape 11"/>
          <p:cNvSpPr/>
          <p:nvPr/>
        </p:nvSpPr>
        <p:spPr>
          <a:xfrm>
            <a:off x="694944" y="5102352"/>
            <a:ext cx="658368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5159045"/>
            <a:ext cx="5303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Fact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1499616" y="5102352"/>
            <a:ext cx="105156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63624" y="5159045"/>
            <a:ext cx="92354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Pain Point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2697480" y="5102352"/>
            <a:ext cx="109728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61488" y="5159045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DX Concept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7882128" y="932688"/>
            <a:ext cx="2606040" cy="2606040"/>
          </a:xfrm>
          <a:prstGeom prst="ellipse">
            <a:avLst/>
          </a:prstGeom>
          <a:solidFill>
            <a:srgbClr val="F8E1D8"/>
          </a:solidFill>
          <a:ln w="12700">
            <a:solidFill>
              <a:srgbClr val="F8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85048" y="1435608"/>
            <a:ext cx="1600200" cy="1600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DF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14232" y="178308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기록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해석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추천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상세 출처는 별도 출처 정리 파일 참고</a:t>
            </a:r>
            <a:endParaRPr lang="en-US" sz="53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2. 추진 배경 스토리라인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현상 분석 → 핵심 문제 → 기존 해결책의 한계 → 솔루션 방향으로 전개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처음 보는 사람도 이해할 수 있도록, 모든 장표는 이 4단계 논리 구조를 따라 전개됩니다.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2331720" cy="2971800"/>
          </a:xfrm>
          <a:prstGeom prst="roundRect">
            <a:avLst>
              <a:gd name="adj" fmla="val 1569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148840"/>
            <a:ext cx="384048" cy="384048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25856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13816" y="28163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50034"/>
                </a:solidFill>
              </a:rPr>
              <a:t>현상 분석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3816" y="3364992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저출산 위기 속에서도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임신·출산 관리 수요는 증가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13816" y="4370832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418381"/>
            <a:ext cx="121615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통계·건보공단</a:t>
            </a:r>
            <a:endParaRPr lang="en-US" sz="560" dirty="0"/>
          </a:p>
        </p:txBody>
      </p:sp>
      <p:sp>
        <p:nvSpPr>
          <p:cNvPr id="14" name="Shape 12"/>
          <p:cNvSpPr/>
          <p:nvPr/>
        </p:nvSpPr>
        <p:spPr>
          <a:xfrm>
            <a:off x="3035808" y="3182112"/>
            <a:ext cx="27432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874520"/>
            <a:ext cx="2331720" cy="297180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48456" y="2148840"/>
            <a:ext cx="384048" cy="384048"/>
          </a:xfrm>
          <a:prstGeom prst="ellipse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85616" y="225856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648456" y="28163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E766E"/>
                </a:solidFill>
              </a:rPr>
              <a:t>핵심 문제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648456" y="3364992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신체 부담, 정서 스트레스,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가사·가족 소통 문제가 동시 발생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3648456" y="4370832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4418381"/>
            <a:ext cx="121615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논문·정책자료</a:t>
            </a:r>
            <a:endParaRPr lang="en-US" sz="560" dirty="0"/>
          </a:p>
        </p:txBody>
      </p:sp>
      <p:sp>
        <p:nvSpPr>
          <p:cNvPr id="22" name="Shape 20"/>
          <p:cNvSpPr/>
          <p:nvPr/>
        </p:nvSpPr>
        <p:spPr>
          <a:xfrm>
            <a:off x="5870448" y="3182112"/>
            <a:ext cx="27432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1874520"/>
            <a:ext cx="2331720" cy="2971800"/>
          </a:xfrm>
          <a:prstGeom prst="roundRect">
            <a:avLst>
              <a:gd name="adj" fmla="val 1569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83096" y="2148840"/>
            <a:ext cx="384048" cy="384048"/>
          </a:xfrm>
          <a:prstGeom prst="ellipse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0256" y="225856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483096" y="28163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BF8730"/>
                </a:solidFill>
              </a:rPr>
              <a:t>기존 해결책의 한계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483096" y="3364992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앱·커뮤니티는 정보 제공 중심,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신뢰성과 행동 연결이 부족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483096" y="4370832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4418381"/>
            <a:ext cx="121615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앱 이용실태 연구</a:t>
            </a:r>
            <a:endParaRPr lang="en-US" sz="560" dirty="0"/>
          </a:p>
        </p:txBody>
      </p:sp>
      <p:sp>
        <p:nvSpPr>
          <p:cNvPr id="30" name="Shape 28"/>
          <p:cNvSpPr/>
          <p:nvPr/>
        </p:nvSpPr>
        <p:spPr>
          <a:xfrm>
            <a:off x="8705088" y="3182112"/>
            <a:ext cx="27432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98280" y="1874520"/>
            <a:ext cx="2331720" cy="297180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17736" y="2148840"/>
            <a:ext cx="384048" cy="384048"/>
          </a:xfrm>
          <a:prstGeom prst="ellipse">
            <a:avLst/>
          </a:prstGeom>
          <a:solidFill>
            <a:srgbClr val="C8194A"/>
          </a:solidFill>
          <a:ln w="12700">
            <a:solidFill>
              <a:srgbClr val="C819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54896" y="225856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317736" y="28163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8194A"/>
                </a:solidFill>
              </a:rPr>
              <a:t>솔루션 방향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317736" y="3364992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가벼운 수동 기록을 AI가 해석하고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ThinQ 루틴·보호자 미션으로 연결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9317736" y="4370832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72600" y="4418381"/>
            <a:ext cx="121615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제안 Concept</a:t>
            </a:r>
            <a:endParaRPr lang="en-US" sz="560" dirty="0"/>
          </a:p>
        </p:txBody>
      </p:sp>
      <p:sp>
        <p:nvSpPr>
          <p:cNvPr id="38" name="Shape 36"/>
          <p:cNvSpPr/>
          <p:nvPr/>
        </p:nvSpPr>
        <p:spPr>
          <a:xfrm>
            <a:off x="749808" y="5303520"/>
            <a:ext cx="10607040" cy="411480"/>
          </a:xfrm>
          <a:prstGeom prst="roundRect">
            <a:avLst>
              <a:gd name="adj" fmla="val 8889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5440680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02124"/>
                </a:solidFill>
              </a:rPr>
              <a:t>핵심 한 줄: ThinQ Moment는 임산부의 기록을 정보 확인에 그치지 않고, 생활 환경 개선을 위한 추천 루틴으로 연결하는 서비스입니다.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9985248" y="5394960"/>
            <a:ext cx="1024128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40112" y="5442509"/>
            <a:ext cx="9144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제안 Concept</a:t>
            </a:r>
            <a:endParaRPr lang="en-US" sz="560" dirty="0"/>
          </a:p>
        </p:txBody>
      </p:sp>
      <p:sp>
        <p:nvSpPr>
          <p:cNvPr id="42" name="Text 40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상세 출처는 별도 출처 정리 파일 참고</a:t>
            </a:r>
            <a:endParaRPr lang="en-US" sz="53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3. 현상 분석 | Market Context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출산율은 낮지만, 임신·출산 관리 수요는 더 선명해지고 있음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저출산 흐름 속에서도 임신 한 건당 건강·정서·생활 관리의 중요성은 커지고 있습니다.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21792" y="1901952"/>
            <a:ext cx="288036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901952"/>
            <a:ext cx="2880360" cy="82296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84832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67085"/>
                </a:solidFill>
              </a:rPr>
              <a:t>출산율 반등 조짐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822960" y="234086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A50034"/>
                </a:solidFill>
              </a:rPr>
              <a:t>0.75명</a:t>
            </a:r>
            <a:endParaRPr lang="en-US" sz="1920" dirty="0"/>
          </a:p>
        </p:txBody>
      </p:sp>
      <p:sp>
        <p:nvSpPr>
          <p:cNvPr id="11" name="Text 9"/>
          <p:cNvSpPr/>
          <p:nvPr/>
        </p:nvSpPr>
        <p:spPr>
          <a:xfrm>
            <a:off x="822960" y="2724912"/>
            <a:ext cx="2551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02124"/>
                </a:solidFill>
              </a:rPr>
              <a:t>2024년 합계출산율. 저출산 흐름 속에서도 전년 대비 반등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822960" y="2999232"/>
            <a:ext cx="2478024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046781"/>
            <a:ext cx="236829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통계청, 2024 출생 통계</a:t>
            </a:r>
            <a:endParaRPr lang="en-US" sz="560" dirty="0"/>
          </a:p>
        </p:txBody>
      </p:sp>
      <p:sp>
        <p:nvSpPr>
          <p:cNvPr id="14" name="Shape 12"/>
          <p:cNvSpPr/>
          <p:nvPr/>
        </p:nvSpPr>
        <p:spPr>
          <a:xfrm>
            <a:off x="3703320" y="1901952"/>
            <a:ext cx="2880360" cy="1371600"/>
          </a:xfrm>
          <a:prstGeom prst="roundRect">
            <a:avLst>
              <a:gd name="adj" fmla="val 2667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1901952"/>
            <a:ext cx="2880360" cy="82296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4488" y="2084832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67085"/>
                </a:solidFill>
              </a:rPr>
              <a:t>진료비 신청 증가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904488" y="234086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0E766E"/>
                </a:solidFill>
              </a:rPr>
              <a:t>14.1%</a:t>
            </a:r>
            <a:endParaRPr lang="en-US" sz="1920" dirty="0"/>
          </a:p>
        </p:txBody>
      </p:sp>
      <p:sp>
        <p:nvSpPr>
          <p:cNvPr id="18" name="Text 16"/>
          <p:cNvSpPr/>
          <p:nvPr/>
        </p:nvSpPr>
        <p:spPr>
          <a:xfrm>
            <a:off x="3904488" y="2724912"/>
            <a:ext cx="2551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02124"/>
                </a:solidFill>
              </a:rPr>
              <a:t>2025.05~2026.01 임신·출산 진료비 신청자 27만231명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3904488" y="2999232"/>
            <a:ext cx="2478024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9352" y="3046781"/>
            <a:ext cx="236829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건강보험공단·조선비즈</a:t>
            </a:r>
            <a:endParaRPr lang="en-US" sz="560" dirty="0"/>
          </a:p>
        </p:txBody>
      </p:sp>
      <p:sp>
        <p:nvSpPr>
          <p:cNvPr id="21" name="Shape 19"/>
          <p:cNvSpPr/>
          <p:nvPr/>
        </p:nvSpPr>
        <p:spPr>
          <a:xfrm>
            <a:off x="6784848" y="1901952"/>
            <a:ext cx="288036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1901952"/>
            <a:ext cx="2880360" cy="82296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86016" y="2084832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67085"/>
                </a:solidFill>
              </a:rPr>
              <a:t>초혼 연령 상승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6986016" y="234086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BF8730"/>
                </a:solidFill>
              </a:rPr>
              <a:t>31.6세</a:t>
            </a:r>
            <a:endParaRPr lang="en-US" sz="1920" dirty="0"/>
          </a:p>
        </p:txBody>
      </p:sp>
      <p:sp>
        <p:nvSpPr>
          <p:cNvPr id="25" name="Text 23"/>
          <p:cNvSpPr/>
          <p:nvPr/>
        </p:nvSpPr>
        <p:spPr>
          <a:xfrm>
            <a:off x="6986016" y="2724912"/>
            <a:ext cx="2551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02124"/>
                </a:solidFill>
              </a:rPr>
              <a:t>2024년 여성 평균 초혼연령. 고령·고위험 임신 관리 필요성 증가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6986016" y="2999232"/>
            <a:ext cx="2478024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046781"/>
            <a:ext cx="236829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통계청, 2024 혼인·이혼</a:t>
            </a:r>
            <a:endParaRPr lang="en-US" sz="560" dirty="0"/>
          </a:p>
        </p:txBody>
      </p:sp>
      <p:sp>
        <p:nvSpPr>
          <p:cNvPr id="28" name="Shape 26"/>
          <p:cNvSpPr/>
          <p:nvPr/>
        </p:nvSpPr>
        <p:spPr>
          <a:xfrm>
            <a:off x="9857232" y="1901952"/>
            <a:ext cx="1627632" cy="1371600"/>
          </a:xfrm>
          <a:prstGeom prst="roundRect">
            <a:avLst>
              <a:gd name="adj" fmla="val 2667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04120" y="21396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기회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10104120" y="254203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2124"/>
                </a:solidFill>
              </a:rPr>
              <a:t>건강·정서·생활 케어를 하나로 묶는 서비스 니즈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104120" y="2944368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58984" y="2991917"/>
            <a:ext cx="4572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해석</a:t>
            </a:r>
            <a:endParaRPr lang="en-US" sz="560" dirty="0"/>
          </a:p>
        </p:txBody>
      </p:sp>
      <p:sp>
        <p:nvSpPr>
          <p:cNvPr id="33" name="Shape 31"/>
          <p:cNvSpPr/>
          <p:nvPr/>
        </p:nvSpPr>
        <p:spPr>
          <a:xfrm>
            <a:off x="749808" y="4434840"/>
            <a:ext cx="10561320" cy="566928"/>
          </a:xfrm>
          <a:prstGeom prst="roundRect">
            <a:avLst>
              <a:gd name="adj" fmla="val 6452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6360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50034"/>
                </a:solidFill>
              </a:rPr>
              <a:t>해석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536192" y="4572000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02124"/>
                </a:solidFill>
              </a:rPr>
              <a:t>저출산은 단순한 시장 축소가 아니라, 임신 한 건당 체계적 관리와 가족 단위 케어의 중요성이 커지는 환경으로 해석할 수 있습니다.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10131552" y="4608576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86416" y="4656125"/>
            <a:ext cx="4572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해석</a:t>
            </a:r>
            <a:endParaRPr lang="en-US" sz="560" dirty="0"/>
          </a:p>
        </p:txBody>
      </p:sp>
      <p:sp>
        <p:nvSpPr>
          <p:cNvPr id="38" name="Text 36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상세 출처는 별도 출처 정리 파일 참고</a:t>
            </a:r>
            <a:endParaRPr lang="en-US" sz="53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4. 핵심 문제 정의 | CX Pain Point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임산부가 경험하는 3가지 복합 부담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임산부의 어려움은 단일 증상이 아니라 몸의 불편, 감정 스트레스, 가족·가사 부담이 겹친 문제입니다.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713232" y="1865376"/>
            <a:ext cx="3154680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65376"/>
            <a:ext cx="3154680" cy="91440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2311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A50034"/>
                </a:solidFill>
              </a:rPr>
              <a:t>신체 부담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941832" y="278892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</a:rPr>
              <a:t>체중 증가, 장기 압박, 소화기계·근골격계 통증, 수면 질 하락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941832" y="3840480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3888029"/>
            <a:ext cx="130759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질병관리청</a:t>
            </a:r>
            <a:endParaRPr lang="en-US" sz="560" dirty="0"/>
          </a:p>
        </p:txBody>
      </p:sp>
      <p:sp>
        <p:nvSpPr>
          <p:cNvPr id="13" name="Shape 11"/>
          <p:cNvSpPr/>
          <p:nvPr/>
        </p:nvSpPr>
        <p:spPr>
          <a:xfrm>
            <a:off x="4462272" y="1865376"/>
            <a:ext cx="3154680" cy="2514600"/>
          </a:xfrm>
          <a:prstGeom prst="roundRect">
            <a:avLst>
              <a:gd name="adj" fmla="val 1455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62272" y="1865376"/>
            <a:ext cx="3154680" cy="91440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22311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0E766E"/>
                </a:solidFill>
              </a:rPr>
              <a:t>정서 스트레스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4690872" y="278892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</a:rPr>
              <a:t>스트레스가 낮고 배우자·가족 지지가 높을수록 모성 정체성은 증가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690872" y="3840480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3888029"/>
            <a:ext cx="130759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Seo et al., 2020</a:t>
            </a:r>
            <a:endParaRPr lang="en-US" sz="560" dirty="0"/>
          </a:p>
        </p:txBody>
      </p:sp>
      <p:sp>
        <p:nvSpPr>
          <p:cNvPr id="19" name="Shape 17"/>
          <p:cNvSpPr/>
          <p:nvPr/>
        </p:nvSpPr>
        <p:spPr>
          <a:xfrm>
            <a:off x="8211312" y="1865376"/>
            <a:ext cx="3154680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11312" y="1865376"/>
            <a:ext cx="3154680" cy="91440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9912" y="22311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BF8730"/>
                </a:solidFill>
              </a:rPr>
              <a:t>환경·가사 부담</a:t>
            </a:r>
            <a:endParaRPr lang="en-US" sz="1720" dirty="0"/>
          </a:p>
        </p:txBody>
      </p:sp>
      <p:sp>
        <p:nvSpPr>
          <p:cNvPr id="22" name="Text 20"/>
          <p:cNvSpPr/>
          <p:nvPr/>
        </p:nvSpPr>
        <p:spPr>
          <a:xfrm>
            <a:off x="8439912" y="278892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</a:rPr>
              <a:t>임신 중 스트레스 키워드에 배우자, 시댁, 육아, 회사, 가사 갈등이 반복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8439912" y="3840480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94776" y="3888029"/>
            <a:ext cx="130759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여성정책연구원·광주시</a:t>
            </a:r>
            <a:endParaRPr lang="en-US" sz="560" dirty="0"/>
          </a:p>
        </p:txBody>
      </p:sp>
      <p:sp>
        <p:nvSpPr>
          <p:cNvPr id="25" name="Shape 23"/>
          <p:cNvSpPr/>
          <p:nvPr/>
        </p:nvSpPr>
        <p:spPr>
          <a:xfrm>
            <a:off x="786384" y="4736592"/>
            <a:ext cx="10442448" cy="658368"/>
          </a:xfrm>
          <a:prstGeom prst="roundRect">
            <a:avLst>
              <a:gd name="adj" fmla="val 5556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96519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50034"/>
                </a:solidFill>
              </a:rPr>
              <a:t>서비스 관점의 결론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2331720" y="490118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02124"/>
                </a:solidFill>
              </a:rPr>
              <a:t>임산부 케어는 산모에게 더 많은 기록을 요구하는 앱이 아니라, 가족과 집이 함께 반응하도록 만드는 생활 케어 시스템이어야 합니다.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10058400" y="493776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13264" y="4985309"/>
            <a:ext cx="89611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제안 Concept</a:t>
            </a:r>
            <a:endParaRPr lang="en-US" sz="560" dirty="0"/>
          </a:p>
        </p:txBody>
      </p:sp>
      <p:sp>
        <p:nvSpPr>
          <p:cNvPr id="30" name="Text 28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상세 출처는 별도 출처 정리 파일 참고</a:t>
            </a:r>
            <a:endParaRPr lang="en-US" sz="53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5. 기존 해결책의 한계 | Gap Analysis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앱과 커뮤니티는 기대고 쓰지만, 신뢰와 행동 연결이 약함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기존 앱은 임신 정보를 보여주지만, 산모의 생활 불편과 가족 행동을 바꾸는 데에는 한계가 있습니다.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3218688" cy="2578608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47088"/>
            <a:ext cx="3218688" cy="91440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A50034"/>
                </a:solidFill>
              </a:rPr>
              <a:t>01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신뢰성 부족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868680" y="2990088"/>
            <a:ext cx="2670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앱 사용자의 55.4%가 위험 징후 정보를 찾지만, 앱 전체 평점은 2.73/5. 게시자 포털 61%, 의료기관 3.3%.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3950208"/>
            <a:ext cx="160020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" y="3997757"/>
            <a:ext cx="14904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이연규, 앱 이용실태 연구</a:t>
            </a:r>
            <a:endParaRPr lang="en-US" sz="560" dirty="0"/>
          </a:p>
        </p:txBody>
      </p:sp>
      <p:sp>
        <p:nvSpPr>
          <p:cNvPr id="14" name="Shape 12"/>
          <p:cNvSpPr/>
          <p:nvPr/>
        </p:nvSpPr>
        <p:spPr>
          <a:xfrm>
            <a:off x="4507992" y="1847088"/>
            <a:ext cx="3218688" cy="2578608"/>
          </a:xfrm>
          <a:prstGeom prst="roundRect">
            <a:avLst>
              <a:gd name="adj" fmla="val 1418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07992" y="1847088"/>
            <a:ext cx="3218688" cy="91440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0E766E"/>
                </a:solidFill>
              </a:rPr>
              <a:t>02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4736592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기록 피로</a:t>
            </a:r>
            <a:endParaRPr lang="en-US" sz="1720" dirty="0"/>
          </a:p>
        </p:txBody>
      </p:sp>
      <p:sp>
        <p:nvSpPr>
          <p:cNvPr id="18" name="Text 16"/>
          <p:cNvSpPr/>
          <p:nvPr/>
        </p:nvSpPr>
        <p:spPr>
          <a:xfrm>
            <a:off x="4736592" y="2990088"/>
            <a:ext cx="2670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매일 컨디션과 일기를 길게 작성해야 통계를 볼 수 있는 구조. 몸이 힘든 산모에게 입력 허들이 높음.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36592" y="3950208"/>
            <a:ext cx="160020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3997757"/>
            <a:ext cx="14904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분석</a:t>
            </a:r>
            <a:endParaRPr lang="en-US" sz="560" dirty="0"/>
          </a:p>
        </p:txBody>
      </p:sp>
      <p:sp>
        <p:nvSpPr>
          <p:cNvPr id="21" name="Shape 19"/>
          <p:cNvSpPr/>
          <p:nvPr/>
        </p:nvSpPr>
        <p:spPr>
          <a:xfrm>
            <a:off x="8375904" y="1847088"/>
            <a:ext cx="3218688" cy="2578608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75904" y="1847088"/>
            <a:ext cx="3218688" cy="91440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04504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BF8730"/>
                </a:solidFill>
              </a:rPr>
              <a:t>03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8604504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해결력 부재</a:t>
            </a:r>
            <a:endParaRPr lang="en-US" sz="1720" dirty="0"/>
          </a:p>
        </p:txBody>
      </p:sp>
      <p:sp>
        <p:nvSpPr>
          <p:cNvPr id="25" name="Text 23"/>
          <p:cNvSpPr/>
          <p:nvPr/>
        </p:nvSpPr>
        <p:spPr>
          <a:xfrm>
            <a:off x="8604504" y="2990088"/>
            <a:ext cx="2670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입덧, 실내 환경, 수면, 가사 부담을 직접 완화하는 후속 대처가 부족. 정보가 행동으로 이어지지 않음.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604504" y="3950208"/>
            <a:ext cx="160020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59368" y="3997757"/>
            <a:ext cx="14904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분석</a:t>
            </a:r>
            <a:endParaRPr lang="en-US" sz="560" dirty="0"/>
          </a:p>
        </p:txBody>
      </p:sp>
      <p:sp>
        <p:nvSpPr>
          <p:cNvPr id="28" name="Shape 26"/>
          <p:cNvSpPr/>
          <p:nvPr/>
        </p:nvSpPr>
        <p:spPr>
          <a:xfrm>
            <a:off x="768096" y="4846320"/>
            <a:ext cx="10561320" cy="566928"/>
          </a:xfrm>
          <a:prstGeom prst="roundRect">
            <a:avLst>
              <a:gd name="adj" fmla="val 6452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502920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50034"/>
                </a:solidFill>
              </a:rPr>
              <a:t>Gap 전환 방향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2212848" y="49651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02124"/>
                </a:solidFill>
              </a:rPr>
              <a:t>가벼운 수동 기록 → AI/RAG 해석 → 신뢰 정보 추천 → ThinQ 루틴 추천 → 보호자 미션으로 행동 연결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10424160" y="4992624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79024" y="5040173"/>
            <a:ext cx="85039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제안 Concept</a:t>
            </a:r>
            <a:endParaRPr lang="en-US" sz="560" dirty="0"/>
          </a:p>
        </p:txBody>
      </p:sp>
      <p:sp>
        <p:nvSpPr>
          <p:cNvPr id="33" name="Text 31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상세 출처는 별도 출처 정리 파일 참고</a:t>
            </a:r>
            <a:endParaRPr lang="en-US" sz="53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6. 해결책 도출 | ThinQ Moment Solution Map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3가지 문제를 3가지 기능 축으로 1:1 대응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이 장표부터는 공인 데이터가 아니라 팀이 제안하는 Concept입니다.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94944" y="1865376"/>
            <a:ext cx="3127248" cy="3035808"/>
          </a:xfrm>
          <a:prstGeom prst="roundRect">
            <a:avLst>
              <a:gd name="adj" fmla="val 1205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48840"/>
            <a:ext cx="1627632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205533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신체·생활 부담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b="1" dirty="0">
                <a:solidFill>
                  <a:srgbClr val="202124"/>
                </a:solidFill>
              </a:rPr>
              <a:t>임산부 모드</a:t>
            </a:r>
            <a:endParaRPr lang="en-US" sz="174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1초 체크리스트, 스트레스 지수, 주차별 AI 큐레이션, ThinQ 가전 루틴 추천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4315968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4363517"/>
            <a:ext cx="85039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제안 Concept</a:t>
            </a:r>
            <a:endParaRPr lang="en-US" sz="560" dirty="0"/>
          </a:p>
        </p:txBody>
      </p:sp>
      <p:sp>
        <p:nvSpPr>
          <p:cNvPr id="14" name="Shape 12"/>
          <p:cNvSpPr/>
          <p:nvPr/>
        </p:nvSpPr>
        <p:spPr>
          <a:xfrm>
            <a:off x="4425696" y="1865376"/>
            <a:ext cx="3127248" cy="3035808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45152" y="2148840"/>
            <a:ext cx="1627632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205533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가족 소통 부족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4645152" y="2697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b="1" dirty="0">
                <a:solidFill>
                  <a:srgbClr val="202124"/>
                </a:solidFill>
              </a:rPr>
              <a:t>보호자 모드</a:t>
            </a:r>
            <a:endParaRPr lang="en-US" sz="1740" dirty="0"/>
          </a:p>
        </p:txBody>
      </p:sp>
      <p:sp>
        <p:nvSpPr>
          <p:cNvPr id="18" name="Text 16"/>
          <p:cNvSpPr/>
          <p:nvPr/>
        </p:nvSpPr>
        <p:spPr>
          <a:xfrm>
            <a:off x="4645152" y="3291840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보호자 다이어리, 보호자 가사 미션, Momo-Q 감성 질문, 완료 체크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45152" y="4315968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4363517"/>
            <a:ext cx="85039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제안 Concept</a:t>
            </a:r>
            <a:endParaRPr lang="en-US" sz="560" dirty="0"/>
          </a:p>
        </p:txBody>
      </p:sp>
      <p:sp>
        <p:nvSpPr>
          <p:cNvPr id="21" name="Shape 19"/>
          <p:cNvSpPr/>
          <p:nvPr/>
        </p:nvSpPr>
        <p:spPr>
          <a:xfrm>
            <a:off x="8156448" y="1865376"/>
            <a:ext cx="3127248" cy="3035808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75904" y="2148840"/>
            <a:ext cx="1627632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9912" y="2205533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정보 신뢰성 부족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8375904" y="2697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b="1" dirty="0">
                <a:solidFill>
                  <a:srgbClr val="202124"/>
                </a:solidFill>
              </a:rPr>
              <a:t>Fact-Check 정보</a:t>
            </a:r>
            <a:endParaRPr lang="en-US" sz="1740" dirty="0"/>
          </a:p>
        </p:txBody>
      </p:sp>
      <p:sp>
        <p:nvSpPr>
          <p:cNvPr id="25" name="Text 23"/>
          <p:cNvSpPr/>
          <p:nvPr/>
        </p:nvSpPr>
        <p:spPr>
          <a:xfrm>
            <a:off x="8375904" y="3291840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공공 API·공신력 기관 자료 기반 RAG 챗봇, 출처 배지, 원문 링크 제공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375904" y="4315968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0768" y="4363517"/>
            <a:ext cx="85039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제안 Concept</a:t>
            </a:r>
            <a:endParaRPr lang="en-US" sz="560" dirty="0"/>
          </a:p>
        </p:txBody>
      </p:sp>
      <p:sp>
        <p:nvSpPr>
          <p:cNvPr id="28" name="Shape 26"/>
          <p:cNvSpPr/>
          <p:nvPr/>
        </p:nvSpPr>
        <p:spPr>
          <a:xfrm>
            <a:off x="786384" y="5285232"/>
            <a:ext cx="10442448" cy="384048"/>
          </a:xfrm>
          <a:prstGeom prst="roundRect">
            <a:avLst>
              <a:gd name="adj" fmla="val 9524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5404104"/>
            <a:ext cx="9738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2124"/>
                </a:solidFill>
              </a:rPr>
              <a:t>핵심 구조: 산모는 가볍게 기록하고, AI는 맥락을 해석하며, ThinQ와 보호자는 실행 가능한 추천을 받습니다.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상세 출처는 별도 출처 정리 파일 참고</a:t>
            </a:r>
            <a:endParaRPr lang="en-US" sz="53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7. 임산부 모드 | 기능 1·2·3·4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가벼운 수동 기록을 AI가 해석해 케어 추천으로 연결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기록을 없애는 것이 아니라, 1초 체크와 슬라이더로 입력 허들을 낮추는 구조입니다.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530352" y="1755648"/>
            <a:ext cx="2048256" cy="3547872"/>
          </a:xfrm>
          <a:prstGeom prst="roundRect">
            <a:avLst>
              <a:gd name="adj" fmla="val 1786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0116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</a:rPr>
              <a:t>1초 수동 기록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6384" y="2542032"/>
            <a:ext cx="548640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598725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입덧</a:t>
            </a:r>
            <a:endParaRPr lang="en-US" sz="620" dirty="0"/>
          </a:p>
        </p:txBody>
      </p:sp>
      <p:sp>
        <p:nvSpPr>
          <p:cNvPr id="11" name="Shape 9"/>
          <p:cNvSpPr/>
          <p:nvPr/>
        </p:nvSpPr>
        <p:spPr>
          <a:xfrm>
            <a:off x="1426464" y="2542032"/>
            <a:ext cx="54864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0472" y="2598725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붓기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786384" y="2926080"/>
            <a:ext cx="54864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982773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두통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1426464" y="2926080"/>
            <a:ext cx="548640" cy="246888"/>
          </a:xfrm>
          <a:prstGeom prst="roundRect">
            <a:avLst>
              <a:gd name="adj" fmla="val 18519"/>
            </a:avLst>
          </a:prstGeom>
          <a:solidFill>
            <a:srgbClr val="C8194A"/>
          </a:solidFill>
          <a:ln w="12700">
            <a:solidFill>
              <a:srgbClr val="C81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90472" y="2982773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불안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804672" y="358444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감정 슬라이더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" y="3968496"/>
            <a:ext cx="1225296" cy="0"/>
          </a:xfrm>
          <a:prstGeom prst="line">
            <a:avLst/>
          </a:prstGeom>
          <a:noFill/>
          <a:ln w="25400">
            <a:solidFill>
              <a:srgbClr val="E3DF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36192" y="3858768"/>
            <a:ext cx="219456" cy="219456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709160"/>
            <a:ext cx="786384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4756709"/>
            <a:ext cx="67665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제안 UI</a:t>
            </a:r>
            <a:endParaRPr lang="en-US" sz="560" dirty="0"/>
          </a:p>
        </p:txBody>
      </p:sp>
      <p:sp>
        <p:nvSpPr>
          <p:cNvPr id="22" name="Shape 20"/>
          <p:cNvSpPr/>
          <p:nvPr/>
        </p:nvSpPr>
        <p:spPr>
          <a:xfrm>
            <a:off x="2743200" y="3246120"/>
            <a:ext cx="347472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73552" y="1792224"/>
            <a:ext cx="3401568" cy="1417320"/>
          </a:xfrm>
          <a:prstGeom prst="roundRect">
            <a:avLst>
              <a:gd name="adj" fmla="val 2581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116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A50034"/>
                </a:solidFill>
              </a:rPr>
              <a:t>불편/스트레스 평가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3474720" y="24505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입덧·수면·스트레스 체크 시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공기청정기·에어컨·가습기 루틴 추천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3474720" y="2889504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9584" y="2937053"/>
            <a:ext cx="85039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제안 Concept</a:t>
            </a:r>
            <a:endParaRPr lang="en-US" sz="560" dirty="0"/>
          </a:p>
        </p:txBody>
      </p:sp>
      <p:sp>
        <p:nvSpPr>
          <p:cNvPr id="28" name="Shape 26"/>
          <p:cNvSpPr/>
          <p:nvPr/>
        </p:nvSpPr>
        <p:spPr>
          <a:xfrm>
            <a:off x="7132320" y="1792224"/>
            <a:ext cx="3401568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33488" y="20116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E766E"/>
                </a:solidFill>
              </a:rPr>
              <a:t>정신 케어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7333488" y="24505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오늘의 감정 체크, 주간 리포트,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명상·호흡·상담 기관 안내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7333488" y="2889504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88352" y="2937053"/>
            <a:ext cx="85039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제안 Concept</a:t>
            </a:r>
            <a:endParaRPr lang="en-US" sz="560" dirty="0"/>
          </a:p>
        </p:txBody>
      </p:sp>
      <p:sp>
        <p:nvSpPr>
          <p:cNvPr id="33" name="Shape 31"/>
          <p:cNvSpPr/>
          <p:nvPr/>
        </p:nvSpPr>
        <p:spPr>
          <a:xfrm>
            <a:off x="3273552" y="3584448"/>
            <a:ext cx="3401568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38039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BF8730"/>
                </a:solidFill>
              </a:rPr>
              <a:t>주차별 AI 큐레이션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3474720" y="424281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12주 입덧, 28주 붓기, 36주 수면 불편 등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상황 맞춤 행동·식단 추천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3474720" y="4681728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9584" y="4729277"/>
            <a:ext cx="85039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제안 Concept</a:t>
            </a:r>
            <a:endParaRPr lang="en-US" sz="560" dirty="0"/>
          </a:p>
        </p:txBody>
      </p:sp>
      <p:sp>
        <p:nvSpPr>
          <p:cNvPr id="38" name="Shape 36"/>
          <p:cNvSpPr/>
          <p:nvPr/>
        </p:nvSpPr>
        <p:spPr>
          <a:xfrm>
            <a:off x="7132320" y="3584448"/>
            <a:ext cx="3401568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33488" y="38039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C8194A"/>
                </a:solidFill>
              </a:rPr>
              <a:t>Fact-Check 정보</a:t>
            </a:r>
            <a:endParaRPr lang="en-US" sz="1320" dirty="0"/>
          </a:p>
        </p:txBody>
      </p:sp>
      <p:sp>
        <p:nvSpPr>
          <p:cNvPr id="40" name="Text 38"/>
          <p:cNvSpPr/>
          <p:nvPr/>
        </p:nvSpPr>
        <p:spPr>
          <a:xfrm>
            <a:off x="7333488" y="424281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공신력 기관 출처 배지,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AI 요약 + 원문 링크 제공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7333488" y="4681728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88352" y="4729277"/>
            <a:ext cx="85039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제안 Concept</a:t>
            </a:r>
            <a:endParaRPr lang="en-US" sz="560" dirty="0"/>
          </a:p>
        </p:txBody>
      </p:sp>
      <p:sp>
        <p:nvSpPr>
          <p:cNvPr id="43" name="Text 41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상세 출처는 별도 출처 정리 파일 참고</a:t>
            </a:r>
            <a:endParaRPr lang="en-US" sz="53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8. 보호자 모드 | 기능 5·6·7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보호자를 관찰자가 아니라 임신 케어의 참여자로 전환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배우자 지지의 중요성을 보호자 다이어리, 가사 미션, 감성 질문으로 서비스화합니다.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94944" y="1847088"/>
            <a:ext cx="3127248" cy="3182112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396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00000"/>
                </a:solidFill>
              </a:rPr>
              <a:t>보호자 다이어리</a:t>
            </a:r>
            <a:endParaRPr lang="en-US" sz="1620" dirty="0"/>
          </a:p>
        </p:txBody>
      </p:sp>
      <p:sp>
        <p:nvSpPr>
          <p:cNvPr id="9" name="Text 7"/>
          <p:cNvSpPr/>
          <p:nvPr/>
        </p:nvSpPr>
        <p:spPr>
          <a:xfrm>
            <a:off x="914400" y="2761488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아내가 공개 허용한 컨디션 요약 확인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보호자도 기대감·감정 기록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초음파 사진 확인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4526280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4573829"/>
            <a:ext cx="85039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제안 Concept</a:t>
            </a:r>
            <a:endParaRPr lang="en-US" sz="560" dirty="0"/>
          </a:p>
        </p:txBody>
      </p:sp>
      <p:sp>
        <p:nvSpPr>
          <p:cNvPr id="12" name="Shape 10"/>
          <p:cNvSpPr/>
          <p:nvPr/>
        </p:nvSpPr>
        <p:spPr>
          <a:xfrm>
            <a:off x="4425696" y="1847088"/>
            <a:ext cx="3127248" cy="3182112"/>
          </a:xfrm>
          <a:prstGeom prst="roundRect">
            <a:avLst>
              <a:gd name="adj" fmla="val 1170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21396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00000"/>
                </a:solidFill>
              </a:rPr>
              <a:t>보호자 가사 미션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4645152" y="2761488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만삭 허리 통증/붓기 심함 기록 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세탁·건조·청소 미션 푸시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완료 체크와 원격 제어 권한 안내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45152" y="4526280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4573829"/>
            <a:ext cx="85039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제안 Concept</a:t>
            </a:r>
            <a:endParaRPr lang="en-US" sz="560" dirty="0"/>
          </a:p>
        </p:txBody>
      </p:sp>
      <p:sp>
        <p:nvSpPr>
          <p:cNvPr id="17" name="Shape 15"/>
          <p:cNvSpPr/>
          <p:nvPr/>
        </p:nvSpPr>
        <p:spPr>
          <a:xfrm>
            <a:off x="4645152" y="4005072"/>
            <a:ext cx="24688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4133088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02124"/>
                </a:solidFill>
              </a:rPr>
              <a:t>“오늘 세탁·건조 미션을 완료해 주세요.”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8156448" y="1847088"/>
            <a:ext cx="3127248" cy="3182112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21396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00000"/>
                </a:solidFill>
              </a:rPr>
              <a:t>Momo-Q</a:t>
            </a:r>
            <a:endParaRPr lang="en-US" sz="1620" dirty="0"/>
          </a:p>
        </p:txBody>
      </p:sp>
      <p:sp>
        <p:nvSpPr>
          <p:cNvPr id="21" name="Text 19"/>
          <p:cNvSpPr/>
          <p:nvPr/>
        </p:nvSpPr>
        <p:spPr>
          <a:xfrm>
            <a:off x="8375904" y="2761488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썸원 스타일 감성 질문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서로 답변 완료 후 Lock 해제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관계를 돈독하게 만드는 대화 유도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375904" y="4526280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0768" y="4573829"/>
            <a:ext cx="85039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제안 Concept</a:t>
            </a:r>
            <a:endParaRPr lang="en-US" sz="560" dirty="0"/>
          </a:p>
        </p:txBody>
      </p:sp>
      <p:sp>
        <p:nvSpPr>
          <p:cNvPr id="24" name="Shape 22"/>
          <p:cNvSpPr/>
          <p:nvPr/>
        </p:nvSpPr>
        <p:spPr>
          <a:xfrm>
            <a:off x="8375904" y="3931920"/>
            <a:ext cx="2468880" cy="502920"/>
          </a:xfrm>
          <a:prstGeom prst="roundRect">
            <a:avLst>
              <a:gd name="adj" fmla="val 7273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22208" y="4096512"/>
            <a:ext cx="21579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02124"/>
                </a:solidFill>
              </a:rPr>
              <a:t>Q. 우리가 처음 운명이라고 느꼈던 순간은?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786384" y="5358384"/>
            <a:ext cx="10442448" cy="384048"/>
          </a:xfrm>
          <a:prstGeom prst="roundRect">
            <a:avLst>
              <a:gd name="adj" fmla="val 9524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5477256"/>
            <a:ext cx="9601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02124"/>
                </a:solidFill>
              </a:rPr>
              <a:t>보호자 모드는 ‘알림’이 아니라, 배우자의 실질적 도움과 정서적 지지를 매일 행동으로 만들기 위한 장치입니다.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9765792" y="5431536"/>
            <a:ext cx="1170432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0656" y="5479085"/>
            <a:ext cx="106070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근거: Seo et al., 2020</a:t>
            </a:r>
            <a:endParaRPr lang="en-US" sz="560" dirty="0"/>
          </a:p>
        </p:txBody>
      </p:sp>
      <p:sp>
        <p:nvSpPr>
          <p:cNvPr id="30" name="Text 28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상세 출처는 별도 출처 정리 파일 참고</a:t>
            </a:r>
            <a:endParaRPr lang="en-US" sz="53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9. 소통 및 확장성 | Community &amp; BX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같은 주차대 공감에서 출산 후 ThinQ Baby 생태계로 확장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커뮤니티는 공감의 공간으로, 비즈니스는 생애주기 가전 구독으로 이어집니다.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4983480" cy="327355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1031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A50034"/>
                </a:solidFill>
              </a:rPr>
              <a:t>주차별 동기 커뮤니티</a:t>
            </a:r>
            <a:endParaRPr lang="en-US" sz="1640" dirty="0"/>
          </a:p>
        </p:txBody>
      </p:sp>
      <p:sp>
        <p:nvSpPr>
          <p:cNvPr id="9" name="Shape 7"/>
          <p:cNvSpPr/>
          <p:nvPr/>
        </p:nvSpPr>
        <p:spPr>
          <a:xfrm>
            <a:off x="950976" y="278434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72491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124"/>
                </a:solidFill>
              </a:rPr>
              <a:t>같은 임신 주차대끼리만 매칭되는 익명 소통 공간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950976" y="316839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10896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124"/>
                </a:solidFill>
              </a:rPr>
              <a:t>입덧방, 붓기방, 수면방, 출산준비방 등 주차별 게시판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0976" y="3552444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493008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124"/>
                </a:solidFill>
              </a:rPr>
              <a:t>공감 질문은 커뮤니티로, 의료성 답변은 Fact-Check 정보로 분리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50976" y="4315968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363517"/>
            <a:ext cx="85039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팀 제안 Concept</a:t>
            </a:r>
            <a:endParaRPr lang="en-US" sz="560" dirty="0"/>
          </a:p>
        </p:txBody>
      </p:sp>
      <p:sp>
        <p:nvSpPr>
          <p:cNvPr id="17" name="Shape 15"/>
          <p:cNvSpPr/>
          <p:nvPr/>
        </p:nvSpPr>
        <p:spPr>
          <a:xfrm>
            <a:off x="6400800" y="1828800"/>
            <a:ext cx="4983480" cy="3273552"/>
          </a:xfrm>
          <a:prstGeom prst="roundRect">
            <a:avLst>
              <a:gd name="adj" fmla="val 1117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0E766E"/>
                </a:solidFill>
              </a:rPr>
              <a:t>ThinQ Baby 확장</a:t>
            </a:r>
            <a:endParaRPr lang="en-US" sz="1640" dirty="0"/>
          </a:p>
        </p:txBody>
      </p:sp>
      <p:sp>
        <p:nvSpPr>
          <p:cNvPr id="19" name="Shape 17"/>
          <p:cNvSpPr/>
          <p:nvPr/>
        </p:nvSpPr>
        <p:spPr>
          <a:xfrm>
            <a:off x="6693408" y="278434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21424" y="272491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</a:rPr>
              <a:t>임신 기간 축적한 수면 패턴·선호 환경 데이터를 출산 후 육아 모드로 연결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693408" y="3186684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3127248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</a:rPr>
              <a:t>수유 타이밍, 분유포트·젖병소독기 알림, 아기 수면 센서 연동 등으로 확장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693408" y="3589020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1424" y="3529584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</a:rPr>
              <a:t>육아 가전 구독 패키지(LaaS)로 자연 업그레이드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693408" y="4315968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AF7F5"/>
          </a:solidFill>
          <a:ln w="12700">
            <a:solidFill>
              <a:srgbClr val="E3DFDA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4363517"/>
            <a:ext cx="130759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67085"/>
                </a:solidFill>
              </a:rPr>
              <a:t>LG UP가전·구독 전략 참고</a:t>
            </a:r>
            <a:endParaRPr lang="en-US" sz="560" dirty="0"/>
          </a:p>
        </p:txBody>
      </p:sp>
      <p:sp>
        <p:nvSpPr>
          <p:cNvPr id="27" name="Text 25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상세 출처는 별도 출처 정리 파일 참고</a:t>
            </a:r>
            <a:endParaRPr lang="en-US" sz="53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10. 멘토링 피드백 요청사항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비즈니스 모델, 타깃, 기술 스코핑을 검증받을 질문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기능 아이디어가 아니라 LG 생태계 확장 가능성과 MVP 범위를 중심으로 피드백을 요청합니다.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713232" y="1828800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574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0034"/>
                </a:solidFill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19072" y="20116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b="1" dirty="0">
                <a:solidFill>
                  <a:srgbClr val="202124"/>
                </a:solidFill>
              </a:rPr>
              <a:t>가벼운 수동 기록, ThinQ 루틴 추천, 보호자 미션, 부부 감성 소통을 결합한 방향성이 LG ThinQ 생태계 확장에 부합하는가?</a:t>
            </a:r>
            <a:endParaRPr lang="en-US" sz="1290" dirty="0"/>
          </a:p>
        </p:txBody>
      </p:sp>
      <p:sp>
        <p:nvSpPr>
          <p:cNvPr id="10" name="Shape 8"/>
          <p:cNvSpPr/>
          <p:nvPr/>
        </p:nvSpPr>
        <p:spPr>
          <a:xfrm>
            <a:off x="713232" y="2999232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2278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66E"/>
                </a:solidFill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19072" y="31821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b="1" dirty="0">
                <a:solidFill>
                  <a:srgbClr val="202124"/>
                </a:solidFill>
              </a:rPr>
              <a:t>타깃을 임산부 전체가 아니라 ‘합병증 우려가 높고 스마트 라이프 요구가 강한 30대 이상 고령/워킹맘’으로 좁히는 것이 유리한가?</a:t>
            </a:r>
            <a:endParaRPr lang="en-US" sz="1290" dirty="0"/>
          </a:p>
        </p:txBody>
      </p:sp>
      <p:sp>
        <p:nvSpPr>
          <p:cNvPr id="13" name="Shape 11"/>
          <p:cNvSpPr/>
          <p:nvPr/>
        </p:nvSpPr>
        <p:spPr>
          <a:xfrm>
            <a:off x="713232" y="4169664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3982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8730"/>
                </a:solidFill>
              </a:rPr>
              <a:t>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19072" y="435254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b="1" dirty="0">
                <a:solidFill>
                  <a:srgbClr val="202124"/>
                </a:solidFill>
              </a:rPr>
              <a:t>식약처·보건복지부 공공 API, 아이사랑·마더세이프 등 신뢰 정보, 웨어러블 데이터를 ThinQ와 연결할 때 MVP 범위는 어디까지가 현실적인가?</a:t>
            </a:r>
            <a:endParaRPr lang="en-US" sz="1290" dirty="0"/>
          </a:p>
        </p:txBody>
      </p:sp>
      <p:sp>
        <p:nvSpPr>
          <p:cNvPr id="16" name="Text 14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질문 장표</a:t>
            </a:r>
            <a:endParaRPr lang="en-US" sz="53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LG전자 DX스쿨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ThinQ Moment</dc:title>
  <dc:subject>ThinQ Moment deck with inline sources</dc:subject>
  <dc:creator>보람삼조</dc:creator>
  <cp:lastModifiedBy>보람삼조</cp:lastModifiedBy>
  <cp:revision>1</cp:revision>
  <dcterms:created xsi:type="dcterms:W3CDTF">2026-05-22T03:26:53Z</dcterms:created>
  <dcterms:modified xsi:type="dcterms:W3CDTF">2026-05-22T03:26:53Z</dcterms:modified>
</cp:coreProperties>
</file>