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4"/>
          </a:solidFill>
          <a:ln w="12700">
            <a:solidFill>
              <a:srgbClr val="F8F6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C2E32"/>
          </a:solidFill>
          <a:ln w="12700">
            <a:solidFill>
              <a:srgbClr val="2C2E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10896" cy="647395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66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0034"/>
                </a:solidFill>
              </a:rPr>
              <a:t>LG ThinQ BX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02124"/>
                </a:solidFill>
              </a:rPr>
              <a:t>ThinQ Mom-Log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1810512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LG 가전 생태계 기반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</a:rPr>
              <a:t>임산부 초개인화 케어 솔루션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717D"/>
                </a:solidFill>
              </a:rPr>
              <a:t>수동 기록의 피로를 없애고, 가전이 먼저 반응하는 임산부 스트레스 케어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4133088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4192524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Mom Data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1938528" y="4133088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4192524"/>
            <a:ext cx="1453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ThinQ Automation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3730752" y="4133088"/>
            <a:ext cx="1719072" cy="256032"/>
          </a:xfrm>
          <a:prstGeom prst="roundRect">
            <a:avLst>
              <a:gd name="adj" fmla="val 17857"/>
            </a:avLst>
          </a:prstGeom>
          <a:solidFill>
            <a:srgbClr val="C8922E"/>
          </a:solidFill>
          <a:ln w="12700">
            <a:solidFill>
              <a:srgbClr val="C892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4192524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LG Appliance Care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7818120" y="868680"/>
            <a:ext cx="2743200" cy="2743200"/>
          </a:xfrm>
          <a:prstGeom prst="ellipse">
            <a:avLst/>
          </a:prstGeom>
          <a:solidFill>
            <a:srgbClr val="F4D7DF"/>
          </a:solidFill>
          <a:ln w="12700">
            <a:solidFill>
              <a:srgbClr val="F4D7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8472" y="1380744"/>
            <a:ext cx="1664208" cy="16642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5088" y="173736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0034"/>
                </a:solidFill>
              </a:rPr>
              <a:t>기록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A50034"/>
                </a:solidFill>
              </a:rPr>
              <a:t>분석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A50034"/>
                </a:solidFill>
              </a:rPr>
              <a:t>연동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" y="5138928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9717D"/>
                </a:solidFill>
              </a:rPr>
              <a:t>보람삼조 | 임산부 맞춤형 케어 다이어리 BX 검증안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12064" y="6574536"/>
            <a:ext cx="11155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팀 기획안 재구성, LG ThinQ/UP가전 전략 방향 반영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4"/>
          </a:solidFill>
          <a:ln w="12700">
            <a:solidFill>
              <a:srgbClr val="F8F6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C2E32"/>
          </a:solidFill>
          <a:ln w="12700">
            <a:solidFill>
              <a:srgbClr val="2C2E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50034"/>
                </a:solidFill>
              </a:rPr>
              <a:t>2. 추진 배경 | Problem Definition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67665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02124"/>
                </a:solidFill>
              </a:rPr>
              <a:t>문제는 ‘정보 부족’이 아니라, 스트레스·지지·가사 부담의 동시 발생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9717D"/>
                </a:solidFill>
              </a:rPr>
              <a:t>시장 통계보다 임산부의 실제 페인포인트와 학술적 인과 요인을 근거로 문제를 정의합니다.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640080" y="1865376"/>
            <a:ext cx="3063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65376"/>
            <a:ext cx="82296" cy="126187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29968"/>
            <a:ext cx="2752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9717D"/>
                </a:solidFill>
              </a:rPr>
              <a:t>시장 현황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1248" y="227685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A50034"/>
                </a:solidFill>
              </a:rPr>
              <a:t>31.6세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841248" y="2670048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2024년 여성 평균 초혼연령. 초혼·출산 연령 상승은 고령·고위험 임신 관리 요구를 키움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507992" y="1865376"/>
            <a:ext cx="3063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>
                <a:alpha val="8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865376"/>
            <a:ext cx="82296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029968"/>
            <a:ext cx="2752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9717D"/>
                </a:solidFill>
              </a:rPr>
              <a:t>학술적 근거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09160" y="227685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766E"/>
                </a:solidFill>
              </a:rPr>
              <a:t>β=-0.27 / β=0.23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4709160" y="2670048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모성 정체성 영향요인: 스트레스는 부정적, 배우자·가족 지지는 긍정적 영향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375904" y="1865376"/>
            <a:ext cx="3063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>
                <a:alpha val="8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865376"/>
            <a:ext cx="82296" cy="1261872"/>
          </a:xfrm>
          <a:prstGeom prst="rect">
            <a:avLst/>
          </a:prstGeom>
          <a:solidFill>
            <a:srgbClr val="C8922E"/>
          </a:solidFill>
          <a:ln w="12700">
            <a:solidFill>
              <a:srgbClr val="C89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7072" y="2029968"/>
            <a:ext cx="2752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9717D"/>
                </a:solidFill>
              </a:rPr>
              <a:t>가사 부담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77072" y="227685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C8922E"/>
                </a:solidFill>
              </a:rPr>
              <a:t>20만원 지원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8577072" y="2670048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광주 임산부 막달 가사돌봄. 가사 피로가 사회적 지원 대상으로 드러남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3639312" y="2340864"/>
            <a:ext cx="384048" cy="329184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6368" y="2340864"/>
            <a:ext cx="384048" cy="329184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096512"/>
            <a:ext cx="10716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251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0034"/>
                </a:solidFill>
              </a:rPr>
              <a:t>서비스 가설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93392" y="4242816"/>
            <a:ext cx="8732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</a:rPr>
              <a:t>임산부의 컨디션과 스트레스 데이터를 ThinQ가 해석하고, LG 가전이 실질적 케어 행동으로 반응하면 기존 앱이 해결하지 못한 ‘생활 속 부담’을 줄일 수 있다.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" y="6574536"/>
            <a:ext cx="11155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통계청 「2024년 혼인·이혼 통계」; Seo et al., Women's Health Nursing 26(1), 2020; 뉴시스, 「광주시, 임신부 막달 가사돌봄서비스 인기」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4"/>
          </a:solidFill>
          <a:ln w="12700">
            <a:solidFill>
              <a:srgbClr val="F8F6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C2E32"/>
          </a:solidFill>
          <a:ln w="12700">
            <a:solidFill>
              <a:srgbClr val="2C2E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50034"/>
                </a:solidFill>
              </a:rPr>
              <a:t>3. 기존 서비스 한계 | Gap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67665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02124"/>
                </a:solidFill>
              </a:rPr>
              <a:t>기존 앱은 ‘읽는 앱’에 머물고, ThinQ Mom-Log는 ‘반응하는 집’으로 확장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9717D"/>
                </a:solidFill>
              </a:rPr>
              <a:t>아이마중 등 공공·임신 앱은 기록과 정보 제공에 강점이 있지만, 자동화와 생활 해결력은 제한적입니다.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713232" y="1883664"/>
            <a:ext cx="3154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83664"/>
            <a:ext cx="3154680" cy="109728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128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0034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2688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신뢰성 부족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3054096"/>
            <a:ext cx="2596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9717D"/>
                </a:solidFill>
              </a:rPr>
              <a:t>앱 사용자는 위험 징후 정보를 찾지만, 임신·출산·육아 앱 92개 평균 평가는 2.73/5. 게시자 중 포털 61%, 의료기관 3.3%에 그침.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462272" y="1883664"/>
            <a:ext cx="3154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1883664"/>
            <a:ext cx="315468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2128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81728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입력 피로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81728" y="3054096"/>
            <a:ext cx="2596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9717D"/>
                </a:solidFill>
              </a:rPr>
              <a:t>몸이 무거운 임산부가 매일 증상, 감정, 수면, 통증을 직접 타이핑해야 하는 구조. 기록 지속성이 낮아질 위험.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211312" y="1883664"/>
            <a:ext cx="31546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1883664"/>
            <a:ext cx="3154680" cy="109728"/>
          </a:xfrm>
          <a:prstGeom prst="rect">
            <a:avLst/>
          </a:prstGeom>
          <a:solidFill>
            <a:srgbClr val="C8922E"/>
          </a:solidFill>
          <a:ln w="12700">
            <a:solidFill>
              <a:srgbClr val="C89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22128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22E"/>
                </a:solidFill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30768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해결력 부재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30768" y="3054096"/>
            <a:ext cx="2596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9717D"/>
                </a:solidFill>
              </a:rPr>
              <a:t>대부분 정보 제공 중심. 입덧 냄새, 체온 불편, 수면 장애, 통증처럼 실제 생활 환경 문제를 직접 완화하지 못함.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786384" y="4846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0034"/>
                </a:solidFill>
              </a:rPr>
              <a:t>Gap을 뒤집은 컨셉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6384" y="514807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수동 입력 최소화 + 신뢰 가능한 케어 로직 + LG 가전 자동 반응 = 임산부 생활 환경 자체를 케어하는 서비스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12064" y="6574536"/>
            <a:ext cx="11155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이연규, 「임신, 출산, 육아관련 모바일 어플리케이션의 이용실태와 컨텐츠 평가」, 계명대학교; 한국사회보장정보원 「아이마중」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4"/>
          </a:solidFill>
          <a:ln w="12700">
            <a:solidFill>
              <a:srgbClr val="F8F6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C2E32"/>
          </a:solidFill>
          <a:ln w="12700">
            <a:solidFill>
              <a:srgbClr val="2C2E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50034"/>
                </a:solidFill>
              </a:rPr>
              <a:t>4. 핵심 DX 기능 1 | 임산부 모드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67665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02124"/>
                </a:solidFill>
              </a:rPr>
              <a:t>임신 주차별 신체 변화에 따라 LG 가전이 다르게 반응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9717D"/>
                </a:solidFill>
              </a:rPr>
              <a:t>주차·증상·감정 데이터가 ThinQ 시나리오로 변환되어 공기, 온도, 식단, 조명, 수면 환경을 자동 조정합니다.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32461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50034"/>
                </a:solidFill>
              </a:rPr>
              <a:t>초기 1~12주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2414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02124"/>
                </a:solidFill>
              </a:rPr>
              <a:t>후각·입덧 케어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22960" y="2980944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040380"/>
            <a:ext cx="2276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입덧/울렁거림 기록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822960" y="3529584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9717D"/>
                </a:solidFill>
              </a:rPr>
              <a:t>퓨리케어 공기청정기·주방 후드 강력 탈취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9717D"/>
                </a:solidFill>
              </a:rPr>
              <a:t>휘센 에어컨 쾌적 냉방으로 냄새·열기 완화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22960" y="4645152"/>
            <a:ext cx="2697480" cy="292608"/>
          </a:xfrm>
          <a:prstGeom prst="rect">
            <a:avLst/>
          </a:prstGeom>
          <a:solidFill>
            <a:srgbClr val="ECE7E2"/>
          </a:solidFill>
          <a:ln w="12700">
            <a:solidFill>
              <a:srgbClr val="EC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727448"/>
            <a:ext cx="2331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02124"/>
                </a:solidFill>
              </a:rPr>
              <a:t>Mom-Log → ThinQ Routine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480560" y="1810512"/>
            <a:ext cx="3246120" cy="3429000"/>
          </a:xfrm>
          <a:prstGeom prst="rect">
            <a:avLst/>
          </a:prstGeom>
          <a:solidFill>
            <a:srgbClr val="F3FAF8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중기 13~27주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09160" y="2414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02124"/>
                </a:solidFill>
              </a:rPr>
              <a:t>합병증·정서 케어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4709160" y="2980944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040380"/>
            <a:ext cx="2276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임당/체중 관리, 우울감 감지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4709160" y="3529584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9717D"/>
                </a:solidFill>
              </a:rPr>
              <a:t>DIOS 냉장고·광파오븐 저당식 레시피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9717D"/>
                </a:solidFill>
              </a:rPr>
              <a:t>에어로퍼니처 무드등·명상 사운드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709160" y="4645152"/>
            <a:ext cx="2697480" cy="292608"/>
          </a:xfrm>
          <a:prstGeom prst="rect">
            <a:avLst/>
          </a:prstGeom>
          <a:solidFill>
            <a:srgbClr val="ECE7E2"/>
          </a:solidFill>
          <a:ln w="12700">
            <a:solidFill>
              <a:srgbClr val="ECE7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727448"/>
            <a:ext cx="2331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02124"/>
                </a:solidFill>
              </a:rPr>
              <a:t>Mom-Log → ThinQ Routine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366760" y="1810512"/>
            <a:ext cx="32461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922E"/>
                </a:solidFill>
              </a:rPr>
              <a:t>후기 28~40주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95360" y="2414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02124"/>
                </a:solidFill>
              </a:rPr>
              <a:t>수면·근골격계 케어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8595360" y="2980944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C8922E"/>
          </a:solidFill>
          <a:ln w="12700">
            <a:solidFill>
              <a:srgbClr val="C892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68512" y="3040380"/>
            <a:ext cx="2276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수면 장애, 허리·골반 통증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8595360" y="3529584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9717D"/>
                </a:solidFill>
              </a:rPr>
              <a:t>휘센 간접바람 수면 모드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9717D"/>
                </a:solidFill>
              </a:rPr>
              <a:t>가습기 자율 가동으로 습도 50% 유지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595360" y="4645152"/>
            <a:ext cx="2697480" cy="292608"/>
          </a:xfrm>
          <a:prstGeom prst="rect">
            <a:avLst/>
          </a:prstGeom>
          <a:solidFill>
            <a:srgbClr val="ECE7E2"/>
          </a:solidFill>
          <a:ln w="12700">
            <a:solidFill>
              <a:srgbClr val="ECE7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4727448"/>
            <a:ext cx="2331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02124"/>
                </a:solidFill>
              </a:rPr>
              <a:t>Mom-Log → ThinQ Routine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512064" y="6574536"/>
            <a:ext cx="11155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팀 제안 시나리오; LG ThinQ 앱/UP가전의 제품 제어·업그레이드 구조 참고. ※ ‘무풍’은 타사 표현이므로 LG 톤에 맞춰 ‘간접바람/수면 모드’로 정리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4"/>
          </a:solidFill>
          <a:ln w="12700">
            <a:solidFill>
              <a:srgbClr val="F8F6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C2E32"/>
          </a:solidFill>
          <a:ln w="12700">
            <a:solidFill>
              <a:srgbClr val="2C2E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50034"/>
                </a:solidFill>
              </a:rPr>
              <a:t>5. 핵심 DX 기능 2 | 보호자 모드 &amp; BX Value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67665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02124"/>
                </a:solidFill>
              </a:rPr>
              <a:t>배우자의 지지를 ‘말’이 아니라 ThinQ 액션으로 시스템화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9717D"/>
                </a:solidFill>
              </a:rPr>
              <a:t>논문에서 확인된 배우자·가족 지지 요인을 보호자 미션, 가전 루틴, 출산 후 생태계 전환으로 연결합니다.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89204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</a:rPr>
              <a:t>보호자 다이어리 &amp; 가전 미션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32688" y="2798064"/>
            <a:ext cx="73152" cy="73152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249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</a:rPr>
              <a:t>산모 컨디션·통증·스트레스 지수가 보호자 계정으로 공유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2688" y="3200400"/>
            <a:ext cx="73152" cy="73152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12724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</a:rPr>
              <a:t>남편 ThinQ 앱에 실질 액션 미션 발송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3730752"/>
            <a:ext cx="4114800" cy="566928"/>
          </a:xfrm>
          <a:prstGeom prst="rect">
            <a:avLst/>
          </a:prstGeom>
          <a:solidFill>
            <a:srgbClr val="F4D7DF"/>
          </a:solidFill>
          <a:ln w="12700">
            <a:solidFill>
              <a:srgbClr val="F4D7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9227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02124"/>
                </a:solidFill>
              </a:rPr>
              <a:t>예: 아내 허리 통증 완화를 위해 퇴근 전 세탁·건조 미션을 완료하세요.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742432" y="3154680"/>
            <a:ext cx="502920" cy="329184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828800"/>
            <a:ext cx="507492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BX: Mom → Baby 생태계 전환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11696" y="2798064"/>
            <a:ext cx="73152" cy="73152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27249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</a:rPr>
              <a:t>임신 기간 ThinQ Mom-Log로 가전 루틴과 사용자 데이터를 축적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11696" y="3200400"/>
            <a:ext cx="73152" cy="73152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31272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</a:rPr>
              <a:t>출산 후 공기청정·세탁·건조·냉장·수면 케어가 ThinQ Baby로 자연 전환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11696" y="3602736"/>
            <a:ext cx="73152" cy="73152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35295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</a:rPr>
              <a:t>가전 구독(LaaS), ThinQ UP, 소모품·서비스 추천으로 평생 고객 관계 강화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9984" y="42702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0034"/>
                </a:solidFill>
              </a:rPr>
              <a:t>임신 케어 락인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28432" y="4215384"/>
            <a:ext cx="475488" cy="256032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42702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육아 가전 전환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930384" y="4215384"/>
            <a:ext cx="475488" cy="25603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0" y="427024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22E"/>
                </a:solidFill>
              </a:rPr>
              <a:t>LTV 확대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" y="6574536"/>
            <a:ext cx="11155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Seo et al., 2020; LG전자 뉴스룸 「UP가전 2.0」, LG전자 「ThinQ UP/UP가전」 고객지원·제품 소개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4"/>
          </a:solidFill>
          <a:ln w="12700">
            <a:solidFill>
              <a:srgbClr val="F8F6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C2E32"/>
          </a:solidFill>
          <a:ln w="12700">
            <a:solidFill>
              <a:srgbClr val="2C2E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A50034"/>
                </a:solidFill>
              </a:rPr>
              <a:t>6. 멘토링 피드백 요청사항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67665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02124"/>
                </a:solidFill>
              </a:rPr>
              <a:t>LG ThinQ 생태계 확장 관점에서 검증받을 3가지 질문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9717D"/>
                </a:solidFill>
              </a:rPr>
              <a:t>아이디어 평가가 아니라 비즈니스 모델, 타깃, 기술 실현 가능성을 중심으로 피드백을 요청합니다.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299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9933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</a:rPr>
              <a:t>가전 제어와 자동 기록이라는 방향성이 LG ThinQ 생태계 확장에 부합하는 비즈니스 모델로 타당해 보이는가?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9808" y="2999232"/>
            <a:ext cx="10698480" cy="804672"/>
          </a:xfrm>
          <a:prstGeom prst="rect">
            <a:avLst/>
          </a:prstGeom>
          <a:solidFill>
            <a:srgbClr val="F3FAF8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004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316382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</a:rPr>
              <a:t>타깃 페르소나를 임산부 전체에서 ‘합병증 우려가 높고 스마트 라이프 요구가 강한 30대 이상 고령/워킹맘’으로 구체화하는 것이 유리한가?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" y="4169664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708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22E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4334256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</a:rPr>
              <a:t>연속혈당측정기(CGM) 등 외부 생체 데이터 API를 ThinQ와 매핑하는 구조의 기술적 실현 가능성을 어떻게 보시는가?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6384" y="55229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멘토링 목표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828800" y="54681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9717D"/>
                </a:solidFill>
              </a:rPr>
              <a:t>기능 아이디어보다 LG 생태계에 맞는 DX 비즈니스 모델인지, 타깃을 얼마나 좁힐지, 데이터 연동 범위를 어디까지 잡을지 검증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12064" y="6574536"/>
            <a:ext cx="11155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E8ECEF"/>
                </a:solidFill>
              </a:rPr>
              <a:t>출처: 팀 멘토링 피드백 요청사항 정리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ThinQ Mom-Log</dc:title>
  <dc:subject>ThinQ Mom-Log BX mentoring deck</dc:subject>
  <dc:creator>보람삼조</dc:creator>
  <cp:lastModifiedBy>보람삼조</cp:lastModifiedBy>
  <cp:revision>1</cp:revision>
  <dcterms:created xsi:type="dcterms:W3CDTF">2026-05-22T01:25:50Z</dcterms:created>
  <dcterms:modified xsi:type="dcterms:W3CDTF">2026-05-22T01:25:50Z</dcterms:modified>
</cp:coreProperties>
</file>