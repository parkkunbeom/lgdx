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66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7A73"/>
                </a:solidFill>
              </a:rPr>
              <a:t>BX MENTORING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1051560"/>
            <a:ext cx="5486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임산부 맞춤형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케어 다이어리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AI 기반으로 임산부의 신체·정서 상태를 기록하고,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맞춤형 케어와 보호자 공유로 연결하는 모바일 서비스 제안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658368"/>
            <a:ext cx="3108960" cy="3108960"/>
          </a:xfrm>
          <a:prstGeom prst="arc">
            <a:avLst/>
          </a:prstGeom>
          <a:noFill/>
          <a:ln w="101600">
            <a:solidFill>
              <a:srgbClr val="D96C5F">
                <a:alpha val="9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320000">
            <a:off x="8065008" y="1207008"/>
            <a:ext cx="2743200" cy="2743200"/>
          </a:xfrm>
          <a:prstGeom prst="arc">
            <a:avLst/>
          </a:prstGeom>
          <a:noFill/>
          <a:ln w="101600">
            <a:solidFill>
              <a:srgbClr val="1F7A73">
                <a:alpha val="9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94192" y="1572768"/>
            <a:ext cx="1783080" cy="1783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947672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기록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공유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케어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3308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4197096"/>
            <a:ext cx="9966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추진배경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1993392" y="4133088"/>
            <a:ext cx="1444752" cy="274320"/>
          </a:xfrm>
          <a:prstGeom prst="roundRect">
            <a:avLst>
              <a:gd name="adj" fmla="val 16667"/>
            </a:avLst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6544" y="4197096"/>
            <a:ext cx="12984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고객감동 목표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3611880" y="4133088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4197096"/>
            <a:ext cx="1088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데이터 수집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내일 멘토링에서 검증받을 핵심: 타깃을 좁히는 방식, 고객감동 목표의 설득력, 크롤링 데이터 활용 전략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66928" y="65928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DDE6EA"/>
                </a:solidFill>
              </a:rPr>
              <a:t>Source: 5기_DX_3팀_최종산출문서.pdf 기반 재구성</a:t>
            </a:r>
            <a:endParaRPr lang="en-US" sz="5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추진배경 | 국내 자료 기반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임신·출산·육아 활동은 모바일 중심으로 이동 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임산부 용품 단일 시장 규모보다, 국내 모바일 소비와 공공 임신관리 앱 흐름으로 근거를 잡는 것이 안전합니다.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58368" y="1993392"/>
            <a:ext cx="24231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93392"/>
            <a:ext cx="82296" cy="1060704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157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7A73"/>
                </a:solidFill>
              </a:rPr>
              <a:t>242조원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77824" y="25237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온라인쇼핑 거래액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7824" y="27432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전년 대비 증가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310128" y="1993392"/>
            <a:ext cx="24231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993392"/>
            <a:ext cx="82296" cy="1060704"/>
          </a:xfrm>
          <a:prstGeom prst="rect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2157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6C5F"/>
                </a:solidFill>
              </a:rPr>
              <a:t>182조원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529584" y="25237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모바일쇼핑 거래액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529584" y="27432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온라인 소비의 핵심 채널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61888" y="1993392"/>
            <a:ext cx="242316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61888" y="1993392"/>
            <a:ext cx="82296" cy="10607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2157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</a:rPr>
              <a:t>82.7%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181344" y="25237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아동·유아용품 모바일 비중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181344" y="274320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2024년 5월 기준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823960" y="1847088"/>
            <a:ext cx="2606040" cy="1335024"/>
          </a:xfrm>
          <a:prstGeom prst="rect">
            <a:avLst/>
          </a:prstGeom>
          <a:solidFill>
            <a:srgbClr val="F7E6E2"/>
          </a:solidFill>
          <a:ln w="12700">
            <a:solidFill>
              <a:srgbClr val="F7E6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0574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6C5F"/>
                </a:solidFill>
              </a:rPr>
              <a:t>시사점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52560" y="235915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임신·출산·육아 정보 탐색과 소비는 이미 모바일 환경에서 이루어진다.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023360"/>
            <a:ext cx="73152" cy="7315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95020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발표에서는 해외 시장 전망 대신 국내 온라인·모바일 소비 흐름을 근거로 제시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480560"/>
            <a:ext cx="73152" cy="7315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40740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서비스 방향은 ‘모바일에서 쉽게 기록하고 관리하는 임산부 케어 경험’으로 연결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65928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DDE6EA"/>
                </a:solidFill>
              </a:rPr>
              <a:t>Source: 통계청/KDI 경제정보센터, 2024년 12월 및 연간 온라인쇼핑동향; 통계청, 2024년 5월 온라인쇼핑동향</a:t>
            </a:r>
            <a:endParaRPr lang="en-US" sz="5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추진배경 | 공공서비스 흐름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국내 공공서비스도 임신·출산 기록을 모바일로 관리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아이마중은 임신 주차 정보, 임산부 수첩, 정기 진찰, 검사, 아기 수첩 기록을 제공하는 공공 모바일 서비스입니다.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13232" y="1828800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396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7A73"/>
                </a:solidFill>
              </a:rPr>
              <a:t>아이마중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87552" y="2697480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임신·출산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</a:rPr>
              <a:t>모바일 플랫폼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25880" y="3858768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9032" y="3922776"/>
            <a:ext cx="1453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공공서비스</a:t>
            </a:r>
            <a:endParaRPr lang="en-US" sz="670" dirty="0"/>
          </a:p>
        </p:txBody>
      </p:sp>
      <p:sp>
        <p:nvSpPr>
          <p:cNvPr id="12" name="Shape 10"/>
          <p:cNvSpPr/>
          <p:nvPr/>
        </p:nvSpPr>
        <p:spPr>
          <a:xfrm>
            <a:off x="3977640" y="1901952"/>
            <a:ext cx="20848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8808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임산부 수첩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178808" y="26151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</a:rPr>
              <a:t>정기 진찰과 임신 중 검사 기록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64808" y="1901952"/>
            <a:ext cx="2084832" cy="1874520"/>
          </a:xfrm>
          <a:prstGeom prst="rect">
            <a:avLst/>
          </a:prstGeom>
          <a:solidFill>
            <a:srgbClr val="F7E6E2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5976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D96C5F"/>
                </a:solidFill>
              </a:rPr>
              <a:t>주차별 정보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65976" y="26151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</a:rPr>
              <a:t>임신 단계별 변화와 건강관리 요령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951976" y="1901952"/>
            <a:ext cx="20848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21762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아기 수첩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53144" y="26151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</a:rPr>
              <a:t>출산 이후 육아 기록으로 확장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248656" y="4407408"/>
            <a:ext cx="1261872" cy="411480"/>
          </a:xfrm>
          <a:prstGeom prst="chevron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370832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933"/>
                </a:solidFill>
              </a:rPr>
              <a:t>우리 서비스는 기록 대상을 신체 상태뿐 아니라 스트레스·감정 변화까지 확장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66928" y="65928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DDE6EA"/>
                </a:solidFill>
              </a:rPr>
              <a:t>Source: 한국사회보장정보원, 아이마중 소개</a:t>
            </a:r>
            <a:endParaRPr lang="en-US" sz="5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추진배경 | 수요 변화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출산율은 낮지만, 임신·출산 케어의 중요도는 커지는 구간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출생아 수 반등, 출산연령 상승, 고령임신 리스크가 동시에 나타납니다.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250545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74520"/>
            <a:ext cx="82296" cy="1060704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03911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7A73"/>
                </a:solidFill>
              </a:rPr>
              <a:t>23.8만명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77824" y="240487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출생아 수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77824" y="26243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전년 대비 3.6% 증가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447288" y="1874520"/>
            <a:ext cx="250545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1874520"/>
            <a:ext cx="82296" cy="1060704"/>
          </a:xfrm>
          <a:prstGeom prst="rect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203911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6C5F"/>
                </a:solidFill>
              </a:rPr>
              <a:t>0.75명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666744" y="240487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합계출산율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666744" y="26243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전년 대비 반등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236208" y="1874520"/>
            <a:ext cx="2505456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874520"/>
            <a:ext cx="82296" cy="10607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03911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</a:rPr>
              <a:t>33.7세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455664" y="240487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모의 평균 출산연령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455664" y="262432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출산연령 상승 지속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94944" y="3593592"/>
            <a:ext cx="107899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822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F7A73"/>
                </a:solidFill>
              </a:rPr>
              <a:t>서비스 가설로 연결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32688" y="413308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F2933"/>
                </a:solidFill>
              </a:rPr>
              <a:t>임신·출산 연령이 높아질수록 산모의 수면, 통증, 컨디션, 이상 징후, 정서 상태를 지속적으로 기록하고 관리할 필요성이 커진다.</a:t>
            </a:r>
            <a:endParaRPr lang="en-US" sz="1380" dirty="0"/>
          </a:p>
        </p:txBody>
      </p:sp>
      <p:sp>
        <p:nvSpPr>
          <p:cNvPr id="25" name="Text 23"/>
          <p:cNvSpPr/>
          <p:nvPr/>
        </p:nvSpPr>
        <p:spPr>
          <a:xfrm>
            <a:off x="566928" y="65928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DDE6EA"/>
                </a:solidFill>
              </a:rPr>
              <a:t>Source: 통계청, 2024년 출생 통계; 질병관리청 국가건강정보포털, 조산</a:t>
            </a:r>
            <a:endParaRPr lang="en-US" sz="5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추진배경 | 임산부 스트레스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임신 과정의 심리적 부담은 정책 지원 대상이 될 만큼 현실적 문제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4번은 ‘산후 불편 증상’보다 ‘임산부의 스트레스와 정서적 부담’으로 가져가면 서비스 핵심과 더 잘 연결됩니다.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27889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47088"/>
            <a:ext cx="82296" cy="1060704"/>
          </a:xfrm>
          <a:prstGeom prst="rect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7A73"/>
                </a:solidFill>
              </a:rPr>
              <a:t>44,351건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32688" y="23774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2024년 전체 상담실적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32688" y="2596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난임·임산부 심리상담센터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794760" y="1847088"/>
            <a:ext cx="27889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1847088"/>
            <a:ext cx="82296" cy="1060704"/>
          </a:xfrm>
          <a:prstGeom prst="rect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5928" y="20116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6C5F"/>
                </a:solidFill>
              </a:rPr>
              <a:t>12,176건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014216" y="23774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임신부 상담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014216" y="2596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산전·후 우울증 등 정서 상담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876288" y="1847088"/>
            <a:ext cx="278892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76288" y="1847088"/>
            <a:ext cx="82296" cy="106070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20116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A441"/>
                </a:solidFill>
              </a:rPr>
              <a:t>전국 확대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095744" y="237744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2933"/>
                </a:solidFill>
              </a:rPr>
              <a:t>지원 방향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095744" y="2596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2026년까지 권역센터 확충 계획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13232" y="3822192"/>
            <a:ext cx="10744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416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73"/>
                </a:solidFill>
              </a:rPr>
              <a:t>기능 연결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396849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스트레스 기록 → 감정 체크인 → 보호자 공유 → 상담기관 안내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74520" y="44348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핵심은 ‘정보 제공 앱’이 아니라 임산부의 정서 상태를 드러내고 주변 도움으로 연결하는 케어 경험입니다.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5928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DDE6EA"/>
                </a:solidFill>
              </a:rPr>
              <a:t>Source: 저출산고령사회위원회, 난임·임산부 심리지원 확대 전국 확산 추진</a:t>
            </a:r>
            <a:endParaRPr lang="en-US" sz="5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고객감동 목표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혼자 버티는 임신이 아니라, 이해받고 관리되는 임신 경험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기능 목록보다 고객이 체감하는 변화 중심으로 정의합니다.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68096" y="1874520"/>
            <a:ext cx="312724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157984"/>
            <a:ext cx="493776" cy="493776"/>
          </a:xfrm>
          <a:prstGeom prst="ellipse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228600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2416" y="2779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7A73"/>
                </a:solidFill>
              </a:rPr>
              <a:t>안심감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42416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B7280"/>
                </a:solidFill>
              </a:rPr>
              <a:t>수면·통증·컨디션·일정을 기록해 ‘내 상태가 관리되고 있다’는 감각 제공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471416" y="1874520"/>
            <a:ext cx="312724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2157984"/>
            <a:ext cx="493776" cy="493776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228600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45736" y="2779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6C5F"/>
                </a:solidFill>
              </a:rPr>
              <a:t>공감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45736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B7280"/>
                </a:solidFill>
              </a:rPr>
              <a:t>감정 체크인과 보호자 공유로 말하기 어려운 스트레스도 드러낼 수 있게 설계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174736" y="1874520"/>
            <a:ext cx="3127248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0768" y="2157984"/>
            <a:ext cx="493776" cy="49377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2286000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49056" y="2779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</a:rPr>
              <a:t>맞춤 케어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49056" y="32644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B7280"/>
                </a:solidFill>
              </a:rPr>
              <a:t>기록 데이터를 기반으로 주차·상태별 알림, 콘텐츠, 상담기관 안내 제공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86384" y="4828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</a:rPr>
              <a:t>고객감동 목표 문장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86384" y="51389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임산부가 서비스를 통해 ‘내 상태를 이해받고 있다’, ‘필요한 도움을 제때 받을 수 있다’, ‘혼자가 아니다’라고 느끼게 만든다.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5928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DDE6EA"/>
                </a:solidFill>
              </a:rPr>
              <a:t>Source: 팀 서비스 가설 및 BX 고객감동 목표 재정의</a:t>
            </a:r>
            <a:endParaRPr lang="en-US" sz="5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데이터 수집 전략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크롤링 데이터는 페르소나와 기능 우선순위를 검증하는 근거로 사용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멘토에게 데이터 수집 범위와 분석 방식이 적절한지 피드백을 요청합니다.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2359152" cy="2304288"/>
          </a:xfrm>
          <a:prstGeom prst="rect">
            <a:avLst/>
          </a:prstGeom>
          <a:solidFill>
            <a:srgbClr val="F7E6E2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121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6C5F"/>
                </a:solidFill>
              </a:rPr>
              <a:t>01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859536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수집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99923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네이버 지식인·카페·맘 커뮤니티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임신 스트레스, 태동, 통증, 수면, 남편 도움, 산후우울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3474720" y="1874520"/>
            <a:ext cx="235915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121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6C5F"/>
                </a:solidFill>
              </a:rPr>
              <a:t>02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675888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전처리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75888" y="299923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중복 제거, 개인정보 제거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임신 단계·감정·증상·도움 요청 유형 라벨링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291072" y="1874520"/>
            <a:ext cx="2359152" cy="2304288"/>
          </a:xfrm>
          <a:prstGeom prst="rect">
            <a:avLst/>
          </a:prstGeom>
          <a:solidFill>
            <a:srgbClr val="F7E6E2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21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6C5F"/>
                </a:solidFill>
              </a:rPr>
              <a:t>03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49224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분석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99923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빈도 분석, 감성 분석, 토픽 분류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반복 문제와 맥락 파악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9107424" y="1874520"/>
            <a:ext cx="235915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8592" y="212140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6C5F"/>
                </a:solidFill>
              </a:rPr>
              <a:t>04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9308592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활용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08592" y="299923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Actor·Persona 도출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6B7280"/>
                </a:solidFill>
              </a:rPr>
              <a:t>핵심 기능과 고객여정 설계</a:t>
            </a:r>
            <a:endParaRPr lang="en-US" sz="890" dirty="0"/>
          </a:p>
        </p:txBody>
      </p:sp>
      <p:sp>
        <p:nvSpPr>
          <p:cNvPr id="23" name="Text 21"/>
          <p:cNvSpPr/>
          <p:nvPr/>
        </p:nvSpPr>
        <p:spPr>
          <a:xfrm>
            <a:off x="713232" y="47365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73"/>
                </a:solidFill>
              </a:rPr>
              <a:t>멘토에게 확인할 것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507492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이 데이터로 ‘임산부 전체’가 아니라 초산모, 직장인 임산부, 고령 산모처럼 더 설득력 있는 타깃을 도출할 수 있는지 검증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5928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DDE6EA"/>
                </a:solidFill>
              </a:rPr>
              <a:t>Source: 5기_DX_3팀_최종산출문서.pdf 데이터 수집 전략 보완</a:t>
            </a:r>
            <a:endParaRPr lang="en-US" sz="5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 w="12700">
            <a:solidFill>
              <a:srgbClr val="F7F5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4023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7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멘토링 질문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내일 가장 먼저 검증받아야 할 질문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66928" y="130759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</a:rPr>
              <a:t>질문은 아이디어 평가가 아니라 타깃·문제정의·데이터 전략 검증으로 가져갑니다.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749808" y="1691640"/>
            <a:ext cx="256032" cy="25603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6022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1</a:t>
            </a:r>
            <a:endParaRPr lang="en-US" sz="550" dirty="0"/>
          </a:p>
        </p:txBody>
      </p:sp>
      <p:sp>
        <p:nvSpPr>
          <p:cNvPr id="9" name="Text 7"/>
          <p:cNvSpPr/>
          <p:nvPr/>
        </p:nvSpPr>
        <p:spPr>
          <a:xfrm>
            <a:off x="1133856" y="166420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타깃을 임산부 전체로 잡아도 되는지, 초산모·직장인 임산부·고령 산모처럼 좁혀야 하는지 궁금합니다.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49808" y="2295144"/>
            <a:ext cx="256032" cy="25603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6372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2</a:t>
            </a:r>
            <a:endParaRPr lang="en-US" sz="550" dirty="0"/>
          </a:p>
        </p:txBody>
      </p:sp>
      <p:sp>
        <p:nvSpPr>
          <p:cNvPr id="12" name="Text 10"/>
          <p:cNvSpPr/>
          <p:nvPr/>
        </p:nvSpPr>
        <p:spPr>
          <a:xfrm>
            <a:off x="1133856" y="22677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문제 정의를 ‘임산부의 신체 변화와 스트레스를 지속적으로 기록·관리하기 어렵다’로 잡는 것이 충분히 설득력 있는지 궁금합니다.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49808" y="2898648"/>
            <a:ext cx="256032" cy="256032"/>
          </a:xfrm>
          <a:prstGeom prst="ellipse">
            <a:avLst/>
          </a:prstGeom>
          <a:solidFill>
            <a:srgbClr val="D96C5F"/>
          </a:solidFill>
          <a:ln w="12700">
            <a:solidFill>
              <a:srgbClr val="D96C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6722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3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1133856" y="287121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고객감동 목표를 ‘안심감, 공감, 맞춤 케어’로 설정했을 때 BX 관점에서 더 강화해야 할 표현이나 경험이 있을까요?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749808" y="3502152"/>
            <a:ext cx="256032" cy="256032"/>
          </a:xfrm>
          <a:prstGeom prst="ellipse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7073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4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1133856" y="34747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감정 체크인, 스트레스 기록, 보호자 공유, 맞춤형 케어 추천 중 MVP에서 가장 먼저 검증해야 할 핵심 기능은 무엇일까요?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49808" y="4105656"/>
            <a:ext cx="256032" cy="256032"/>
          </a:xfrm>
          <a:prstGeom prst="ellipse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74236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5</a:t>
            </a:r>
            <a:endParaRPr lang="en-US" sz="550" dirty="0"/>
          </a:p>
        </p:txBody>
      </p:sp>
      <p:sp>
        <p:nvSpPr>
          <p:cNvPr id="21" name="Text 19"/>
          <p:cNvSpPr/>
          <p:nvPr/>
        </p:nvSpPr>
        <p:spPr>
          <a:xfrm>
            <a:off x="1133856" y="407822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커뮤니티·리뷰 크롤링 데이터를 액터와 페르소나 도출에 활용하는 방식이 적절한지, 추가로 수집해야 할 데이터가 있을까요?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9808" y="4709160"/>
            <a:ext cx="256032" cy="256032"/>
          </a:xfrm>
          <a:prstGeom prst="ellipse">
            <a:avLst/>
          </a:prstGeom>
          <a:solidFill>
            <a:srgbClr val="1F7A73"/>
          </a:solidFill>
          <a:ln w="12700">
            <a:solidFill>
              <a:srgbClr val="1F7A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7774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6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1133856" y="4681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F2933"/>
                </a:solidFill>
              </a:rPr>
              <a:t>임산부의 건강·감정 데이터를 다루는 서비스에서 기획 단계부터 고려해야 할 개인정보·민감정보 리스크는 무엇일까요?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66928" y="65928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DDE6EA"/>
                </a:solidFill>
              </a:rPr>
              <a:t>Source: 멘토링 논의용 질문 정리</a:t>
            </a:r>
            <a:endParaRPr lang="en-US" sz="5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LG전자 DX스쿨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임산부 맞춤형 케어 다이어리 멘토링용</dc:title>
  <dc:subject>BX mentoring deck</dc:subject>
  <dc:creator>보람삼조</dc:creator>
  <cp:lastModifiedBy>보람삼조</cp:lastModifiedBy>
  <cp:revision>1</cp:revision>
  <dcterms:created xsi:type="dcterms:W3CDTF">2026-05-21T07:16:47Z</dcterms:created>
  <dcterms:modified xsi:type="dcterms:W3CDTF">2026-05-21T07:16:47Z</dcterms:modified>
</cp:coreProperties>
</file>